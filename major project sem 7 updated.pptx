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60" r:id="rId4"/>
    <p:sldId id="270" r:id="rId5"/>
    <p:sldId id="271" r:id="rId6"/>
    <p:sldId id="273" r:id="rId7"/>
    <p:sldId id="259" r:id="rId8"/>
    <p:sldId id="264" r:id="rId9"/>
    <p:sldId id="265" r:id="rId10"/>
    <p:sldId id="269" r:id="rId11"/>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2400" b="1" i="0" u="sng">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900" b="0" i="0">
                <a:solidFill>
                  <a:schemeClr val="tx1"/>
                </a:solidFill>
                <a:latin typeface="Arial"/>
                <a:cs typeface="Arial"/>
              </a:defRPr>
            </a:lvl1pPr>
          </a:lstStyle>
          <a:p>
            <a:pPr marL="12700">
              <a:lnSpc>
                <a:spcPct val="100000"/>
              </a:lnSpc>
              <a:spcBef>
                <a:spcPts val="15"/>
              </a:spcBef>
            </a:pPr>
            <a:r>
              <a:rPr dirty="0"/>
              <a:t>BE-</a:t>
            </a:r>
            <a:r>
              <a:rPr spc="-10" dirty="0"/>
              <a:t> IOE-</a:t>
            </a:r>
            <a:r>
              <a:rPr dirty="0"/>
              <a:t>Lab</a:t>
            </a:r>
            <a:r>
              <a:rPr spc="-10" dirty="0"/>
              <a:t> </a:t>
            </a:r>
            <a:r>
              <a:rPr dirty="0"/>
              <a:t>Mini</a:t>
            </a:r>
            <a:r>
              <a:rPr spc="-10" dirty="0"/>
              <a:t> </a:t>
            </a:r>
            <a:r>
              <a:rPr dirty="0"/>
              <a:t>Project</a:t>
            </a:r>
            <a:r>
              <a:rPr spc="-10" dirty="0"/>
              <a:t> </a:t>
            </a:r>
            <a:r>
              <a:rPr dirty="0"/>
              <a:t>-</a:t>
            </a:r>
            <a:r>
              <a:rPr spc="-5" dirty="0"/>
              <a:t> </a:t>
            </a:r>
            <a:r>
              <a:rPr spc="-20" dirty="0"/>
              <a:t>SH25</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u="sng">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900" b="0" i="0">
                <a:solidFill>
                  <a:schemeClr val="tx1"/>
                </a:solidFill>
                <a:latin typeface="Arial"/>
                <a:cs typeface="Arial"/>
              </a:defRPr>
            </a:lvl1pPr>
          </a:lstStyle>
          <a:p>
            <a:pPr marL="12700">
              <a:lnSpc>
                <a:spcPct val="100000"/>
              </a:lnSpc>
              <a:spcBef>
                <a:spcPts val="15"/>
              </a:spcBef>
            </a:pPr>
            <a:r>
              <a:rPr dirty="0"/>
              <a:t>BE-</a:t>
            </a:r>
            <a:r>
              <a:rPr spc="-10" dirty="0"/>
              <a:t> IOE-</a:t>
            </a:r>
            <a:r>
              <a:rPr dirty="0"/>
              <a:t>Lab</a:t>
            </a:r>
            <a:r>
              <a:rPr spc="-10" dirty="0"/>
              <a:t> </a:t>
            </a:r>
            <a:r>
              <a:rPr dirty="0"/>
              <a:t>Mini</a:t>
            </a:r>
            <a:r>
              <a:rPr spc="-10" dirty="0"/>
              <a:t> </a:t>
            </a:r>
            <a:r>
              <a:rPr dirty="0"/>
              <a:t>Project</a:t>
            </a:r>
            <a:r>
              <a:rPr spc="-10" dirty="0"/>
              <a:t> </a:t>
            </a:r>
            <a:r>
              <a:rPr dirty="0"/>
              <a:t>-</a:t>
            </a:r>
            <a:r>
              <a:rPr spc="-5" dirty="0"/>
              <a:t> </a:t>
            </a:r>
            <a:r>
              <a:rPr spc="-20" dirty="0"/>
              <a:t>SH25</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u="sng">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chemeClr val="tx1"/>
                </a:solidFill>
                <a:latin typeface="Arial"/>
                <a:cs typeface="Arial"/>
              </a:defRPr>
            </a:lvl1pPr>
          </a:lstStyle>
          <a:p>
            <a:pPr marL="12700">
              <a:lnSpc>
                <a:spcPct val="100000"/>
              </a:lnSpc>
              <a:spcBef>
                <a:spcPts val="15"/>
              </a:spcBef>
            </a:pPr>
            <a:r>
              <a:rPr dirty="0"/>
              <a:t>BE-</a:t>
            </a:r>
            <a:r>
              <a:rPr spc="-10" dirty="0"/>
              <a:t> IOE-</a:t>
            </a:r>
            <a:r>
              <a:rPr dirty="0"/>
              <a:t>Lab</a:t>
            </a:r>
            <a:r>
              <a:rPr spc="-10" dirty="0"/>
              <a:t> </a:t>
            </a:r>
            <a:r>
              <a:rPr dirty="0"/>
              <a:t>Mini</a:t>
            </a:r>
            <a:r>
              <a:rPr spc="-10" dirty="0"/>
              <a:t> </a:t>
            </a:r>
            <a:r>
              <a:rPr dirty="0"/>
              <a:t>Project</a:t>
            </a:r>
            <a:r>
              <a:rPr spc="-10" dirty="0"/>
              <a:t> </a:t>
            </a:r>
            <a:r>
              <a:rPr dirty="0"/>
              <a:t>-</a:t>
            </a:r>
            <a:r>
              <a:rPr spc="-5" dirty="0"/>
              <a:t> </a:t>
            </a:r>
            <a:r>
              <a:rPr spc="-20" dirty="0"/>
              <a:t>SH25</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8/11/2025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u="sng">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900" b="0" i="0">
                <a:solidFill>
                  <a:schemeClr val="tx1"/>
                </a:solidFill>
                <a:latin typeface="Arial"/>
                <a:cs typeface="Arial"/>
              </a:defRPr>
            </a:lvl1pPr>
          </a:lstStyle>
          <a:p>
            <a:pPr marL="12700">
              <a:lnSpc>
                <a:spcPct val="100000"/>
              </a:lnSpc>
              <a:spcBef>
                <a:spcPts val="15"/>
              </a:spcBef>
            </a:pPr>
            <a:r>
              <a:rPr dirty="0"/>
              <a:t>BE-</a:t>
            </a:r>
            <a:r>
              <a:rPr spc="-10" dirty="0"/>
              <a:t> IOE-</a:t>
            </a:r>
            <a:r>
              <a:rPr dirty="0"/>
              <a:t>Lab</a:t>
            </a:r>
            <a:r>
              <a:rPr spc="-10" dirty="0"/>
              <a:t> </a:t>
            </a:r>
            <a:r>
              <a:rPr dirty="0"/>
              <a:t>Mini</a:t>
            </a:r>
            <a:r>
              <a:rPr spc="-10" dirty="0"/>
              <a:t> </a:t>
            </a:r>
            <a:r>
              <a:rPr dirty="0"/>
              <a:t>Project</a:t>
            </a:r>
            <a:r>
              <a:rPr spc="-10" dirty="0"/>
              <a:t> </a:t>
            </a:r>
            <a:r>
              <a:rPr dirty="0"/>
              <a:t>-</a:t>
            </a:r>
            <a:r>
              <a:rPr spc="-5" dirty="0"/>
              <a:t> </a:t>
            </a:r>
            <a:r>
              <a:rPr spc="-20" dirty="0"/>
              <a:t>SH25</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8/11/2025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136320" y="151231"/>
            <a:ext cx="6690858" cy="644598"/>
          </a:xfrm>
          <a:prstGeom prst="rect">
            <a:avLst/>
          </a:prstGeom>
        </p:spPr>
      </p:pic>
      <p:sp>
        <p:nvSpPr>
          <p:cNvPr id="2" name="Holder 2"/>
          <p:cNvSpPr>
            <a:spLocks noGrp="1"/>
          </p:cNvSpPr>
          <p:nvPr>
            <p:ph type="ftr" sz="quarter" idx="5"/>
          </p:nvPr>
        </p:nvSpPr>
        <p:spPr/>
        <p:txBody>
          <a:bodyPr lIns="0" tIns="0" rIns="0" bIns="0"/>
          <a:lstStyle>
            <a:lvl1pPr>
              <a:defRPr sz="900" b="0" i="0">
                <a:solidFill>
                  <a:schemeClr val="tx1"/>
                </a:solidFill>
                <a:latin typeface="Arial"/>
                <a:cs typeface="Arial"/>
              </a:defRPr>
            </a:lvl1pPr>
          </a:lstStyle>
          <a:p>
            <a:pPr marL="12700">
              <a:lnSpc>
                <a:spcPct val="100000"/>
              </a:lnSpc>
              <a:spcBef>
                <a:spcPts val="15"/>
              </a:spcBef>
            </a:pPr>
            <a:r>
              <a:rPr dirty="0"/>
              <a:t>BE-</a:t>
            </a:r>
            <a:r>
              <a:rPr spc="-10" dirty="0"/>
              <a:t> IOE-</a:t>
            </a:r>
            <a:r>
              <a:rPr dirty="0"/>
              <a:t>Lab</a:t>
            </a:r>
            <a:r>
              <a:rPr spc="-10" dirty="0"/>
              <a:t> </a:t>
            </a:r>
            <a:r>
              <a:rPr dirty="0"/>
              <a:t>Mini</a:t>
            </a:r>
            <a:r>
              <a:rPr spc="-10" dirty="0"/>
              <a:t> </a:t>
            </a:r>
            <a:r>
              <a:rPr dirty="0"/>
              <a:t>Project</a:t>
            </a:r>
            <a:r>
              <a:rPr spc="-10" dirty="0"/>
              <a:t> </a:t>
            </a:r>
            <a:r>
              <a:rPr dirty="0"/>
              <a:t>-</a:t>
            </a:r>
            <a:r>
              <a:rPr spc="-5" dirty="0"/>
              <a:t> </a:t>
            </a:r>
            <a:r>
              <a:rPr spc="-20" dirty="0"/>
              <a:t>SH25</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8/11/2025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058139" y="894469"/>
            <a:ext cx="3900170" cy="908180"/>
          </a:xfrm>
          <a:prstGeom prst="rect">
            <a:avLst/>
          </a:prstGeom>
        </p:spPr>
        <p:txBody>
          <a:bodyPr wrap="square" lIns="0" tIns="0" rIns="0" bIns="0">
            <a:spAutoFit/>
          </a:bodyPr>
          <a:lstStyle>
            <a:lvl1pPr>
              <a:defRPr sz="2400" b="1" i="0" u="sng">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1206500" y="2832100"/>
            <a:ext cx="7010400" cy="190372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195997" y="6259837"/>
            <a:ext cx="1696720" cy="153670"/>
          </a:xfrm>
          <a:prstGeom prst="rect">
            <a:avLst/>
          </a:prstGeom>
        </p:spPr>
        <p:txBody>
          <a:bodyPr wrap="square" lIns="0" tIns="0" rIns="0" bIns="0">
            <a:spAutoFit/>
          </a:bodyPr>
          <a:lstStyle>
            <a:lvl1pPr>
              <a:defRPr sz="900" b="0" i="0">
                <a:solidFill>
                  <a:schemeClr val="tx1"/>
                </a:solidFill>
                <a:latin typeface="Arial"/>
                <a:cs typeface="Arial"/>
              </a:defRPr>
            </a:lvl1pPr>
          </a:lstStyle>
          <a:p>
            <a:pPr marL="12700">
              <a:lnSpc>
                <a:spcPct val="100000"/>
              </a:lnSpc>
              <a:spcBef>
                <a:spcPts val="15"/>
              </a:spcBef>
            </a:pPr>
            <a:r>
              <a:rPr dirty="0"/>
              <a:t>BE-</a:t>
            </a:r>
            <a:r>
              <a:rPr spc="-10" dirty="0"/>
              <a:t> IOE-</a:t>
            </a:r>
            <a:r>
              <a:rPr dirty="0"/>
              <a:t>Lab</a:t>
            </a:r>
            <a:r>
              <a:rPr spc="-10" dirty="0"/>
              <a:t> </a:t>
            </a:r>
            <a:r>
              <a:rPr dirty="0"/>
              <a:t>Mini</a:t>
            </a:r>
            <a:r>
              <a:rPr spc="-10" dirty="0"/>
              <a:t> </a:t>
            </a:r>
            <a:r>
              <a:rPr dirty="0"/>
              <a:t>Project</a:t>
            </a:r>
            <a:r>
              <a:rPr spc="-10" dirty="0"/>
              <a:t> </a:t>
            </a:r>
            <a:r>
              <a:rPr dirty="0"/>
              <a:t>-</a:t>
            </a:r>
            <a:r>
              <a:rPr spc="-5" dirty="0"/>
              <a:t> </a:t>
            </a:r>
            <a:r>
              <a:rPr spc="-20" dirty="0"/>
              <a:t>SH25</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8/11/2025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hyperlink" Target="https://www.wysa.io/" TargetMode="External"/><Relationship Id="rId2" Type="http://schemas.openxmlformats.org/officeDocument/2006/relationships/hyperlink" Target="https://developers.google.com/fit" TargetMode="External"/><Relationship Id="rId1" Type="http://schemas.openxmlformats.org/officeDocument/2006/relationships/slideLayout" Target="../slideLayouts/slideLayout5.xml"/><Relationship Id="rId5" Type="http://schemas.openxmlformats.org/officeDocument/2006/relationships/hyperlink" Target="https://www.who.int/" TargetMode="External"/><Relationship Id="rId4" Type="http://schemas.openxmlformats.org/officeDocument/2006/relationships/hyperlink" Target="https://www.myfitnesspal.com/"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72458" y="1053119"/>
            <a:ext cx="3900170" cy="505267"/>
          </a:xfrm>
          <a:prstGeom prst="rect">
            <a:avLst/>
          </a:prstGeom>
        </p:spPr>
        <p:txBody>
          <a:bodyPr vert="horz" wrap="square" lIns="0" tIns="12700" rIns="0" bIns="0" rtlCol="0" anchor="t">
            <a:spAutoFit/>
          </a:bodyPr>
          <a:lstStyle/>
          <a:p>
            <a:pPr marL="12700">
              <a:lnSpc>
                <a:spcPct val="100000"/>
              </a:lnSpc>
              <a:spcBef>
                <a:spcPts val="100"/>
              </a:spcBef>
            </a:pPr>
            <a:r>
              <a:rPr lang="en-US" sz="3200" u="none" spc="-20" dirty="0"/>
              <a:t>MAJOR  </a:t>
            </a:r>
            <a:r>
              <a:rPr lang="en-US" sz="3200" u="none" spc="-10" dirty="0"/>
              <a:t>PROJECT </a:t>
            </a:r>
            <a:endParaRPr u="none" spc="-10" dirty="0"/>
          </a:p>
        </p:txBody>
      </p:sp>
      <p:sp>
        <p:nvSpPr>
          <p:cNvPr id="3" name="object 3"/>
          <p:cNvSpPr txBox="1"/>
          <p:nvPr/>
        </p:nvSpPr>
        <p:spPr>
          <a:xfrm>
            <a:off x="3886200" y="2111506"/>
            <a:ext cx="2088326" cy="900888"/>
          </a:xfrm>
          <a:prstGeom prst="rect">
            <a:avLst/>
          </a:prstGeom>
        </p:spPr>
        <p:txBody>
          <a:bodyPr vert="horz" wrap="square" lIns="0" tIns="13335" rIns="0" bIns="0" rtlCol="0" anchor="t">
            <a:spAutoFit/>
          </a:bodyPr>
          <a:lstStyle/>
          <a:p>
            <a:pPr marL="12700">
              <a:spcBef>
                <a:spcPts val="105"/>
              </a:spcBef>
            </a:pPr>
            <a:endParaRPr lang="en-US" sz="2000" b="1" dirty="0">
              <a:latin typeface="Times New Roman"/>
              <a:cs typeface="Times New Roman"/>
            </a:endParaRPr>
          </a:p>
          <a:p>
            <a:pPr marL="12700">
              <a:spcBef>
                <a:spcPts val="105"/>
              </a:spcBef>
            </a:pPr>
            <a:r>
              <a:rPr lang="en-US" b="1" dirty="0">
                <a:latin typeface="Times New Roman"/>
                <a:cs typeface="Times New Roman"/>
              </a:rPr>
              <a:t>Group No : 3</a:t>
            </a:r>
            <a:endParaRPr lang="en-IN" b="1" spc="-30" dirty="0">
              <a:latin typeface="Times New Roman"/>
              <a:cs typeface="Times New Roman"/>
            </a:endParaRPr>
          </a:p>
          <a:p>
            <a:pPr marL="12700">
              <a:spcBef>
                <a:spcPts val="105"/>
              </a:spcBef>
            </a:pPr>
            <a:r>
              <a:rPr b="1" dirty="0">
                <a:latin typeface="Times New Roman"/>
                <a:cs typeface="Times New Roman"/>
              </a:rPr>
              <a:t>Presented</a:t>
            </a:r>
            <a:r>
              <a:rPr b="1" spc="-30" dirty="0">
                <a:latin typeface="Times New Roman"/>
                <a:cs typeface="Times New Roman"/>
              </a:rPr>
              <a:t> </a:t>
            </a:r>
            <a:r>
              <a:rPr b="1" dirty="0">
                <a:latin typeface="Times New Roman"/>
                <a:cs typeface="Times New Roman"/>
              </a:rPr>
              <a:t>by</a:t>
            </a:r>
            <a:r>
              <a:rPr lang="en-US" b="1" spc="-30" dirty="0">
                <a:latin typeface="Times New Roman"/>
                <a:cs typeface="Times New Roman"/>
              </a:rPr>
              <a:t> </a:t>
            </a:r>
            <a:r>
              <a:rPr b="1" dirty="0">
                <a:latin typeface="Times New Roman"/>
                <a:cs typeface="Times New Roman"/>
              </a:rPr>
              <a:t>:</a:t>
            </a:r>
            <a:endParaRPr lang="en-IN" b="1" spc="-30" dirty="0">
              <a:latin typeface="Times New Roman"/>
              <a:cs typeface="Times New Roman"/>
            </a:endParaRPr>
          </a:p>
        </p:txBody>
      </p:sp>
      <p:graphicFrame>
        <p:nvGraphicFramePr>
          <p:cNvPr id="4" name="object 4"/>
          <p:cNvGraphicFramePr>
            <a:graphicFrameLocks noGrp="1"/>
          </p:cNvGraphicFramePr>
          <p:nvPr>
            <p:extLst>
              <p:ext uri="{D42A27DB-BD31-4B8C-83A1-F6EECF244321}">
                <p14:modId xmlns:p14="http://schemas.microsoft.com/office/powerpoint/2010/main" val="2026494914"/>
              </p:ext>
            </p:extLst>
          </p:nvPr>
        </p:nvGraphicFramePr>
        <p:xfrm>
          <a:off x="1314450" y="3053258"/>
          <a:ext cx="6781800" cy="2234573"/>
        </p:xfrm>
        <a:graphic>
          <a:graphicData uri="http://schemas.openxmlformats.org/drawingml/2006/table">
            <a:tbl>
              <a:tblPr firstRow="1" bandRow="1">
                <a:tableStyleId>{2D5ABB26-0587-4C30-8999-92F81FD0307C}</a:tableStyleId>
              </a:tblPr>
              <a:tblGrid>
                <a:gridCol w="762000">
                  <a:extLst>
                    <a:ext uri="{9D8B030D-6E8A-4147-A177-3AD203B41FA5}">
                      <a16:colId xmlns:a16="http://schemas.microsoft.com/office/drawing/2014/main" val="20000"/>
                    </a:ext>
                  </a:extLst>
                </a:gridCol>
                <a:gridCol w="4427010">
                  <a:extLst>
                    <a:ext uri="{9D8B030D-6E8A-4147-A177-3AD203B41FA5}">
                      <a16:colId xmlns:a16="http://schemas.microsoft.com/office/drawing/2014/main" val="20001"/>
                    </a:ext>
                  </a:extLst>
                </a:gridCol>
                <a:gridCol w="1592790">
                  <a:extLst>
                    <a:ext uri="{9D8B030D-6E8A-4147-A177-3AD203B41FA5}">
                      <a16:colId xmlns:a16="http://schemas.microsoft.com/office/drawing/2014/main" val="20002"/>
                    </a:ext>
                  </a:extLst>
                </a:gridCol>
              </a:tblGrid>
              <a:tr h="459261">
                <a:tc>
                  <a:txBody>
                    <a:bodyPr/>
                    <a:lstStyle/>
                    <a:p>
                      <a:pPr marL="201295" algn="l">
                        <a:lnSpc>
                          <a:spcPct val="100000"/>
                        </a:lnSpc>
                        <a:spcBef>
                          <a:spcPts val="480"/>
                        </a:spcBef>
                      </a:pPr>
                      <a:r>
                        <a:rPr sz="1600" b="1" spc="-10" dirty="0">
                          <a:latin typeface="Times New Roman"/>
                          <a:cs typeface="Times New Roman"/>
                        </a:rPr>
                        <a:t>Sr.No</a:t>
                      </a:r>
                      <a:endParaRPr sz="1600" dirty="0">
                        <a:latin typeface="Times New Roman"/>
                        <a:cs typeface="Times New Roman"/>
                      </a:endParaRPr>
                    </a:p>
                  </a:txBody>
                  <a:tcPr marL="0" marR="0" marT="609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324610" algn="l">
                        <a:lnSpc>
                          <a:spcPct val="100000"/>
                        </a:lnSpc>
                        <a:spcBef>
                          <a:spcPts val="480"/>
                        </a:spcBef>
                      </a:pPr>
                      <a:r>
                        <a:rPr sz="1600" b="1" spc="-20" dirty="0">
                          <a:latin typeface="Times New Roman"/>
                          <a:cs typeface="Times New Roman"/>
                        </a:rPr>
                        <a:t>Name</a:t>
                      </a:r>
                      <a:endParaRPr sz="1600" dirty="0">
                        <a:latin typeface="Times New Roman"/>
                        <a:cs typeface="Times New Roman"/>
                      </a:endParaRPr>
                    </a:p>
                  </a:txBody>
                  <a:tcPr marL="0" marR="0" marT="609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170" algn="ctr">
                        <a:lnSpc>
                          <a:spcPct val="100000"/>
                        </a:lnSpc>
                        <a:spcBef>
                          <a:spcPts val="480"/>
                        </a:spcBef>
                      </a:pPr>
                      <a:r>
                        <a:rPr sz="1600" b="1" spc="-10" dirty="0">
                          <a:latin typeface="Times New Roman"/>
                          <a:cs typeface="Times New Roman"/>
                        </a:rPr>
                        <a:t>ID</a:t>
                      </a:r>
                      <a:r>
                        <a:rPr lang="en-US" sz="1600" b="1" spc="-10" dirty="0">
                          <a:latin typeface="Times New Roman"/>
                          <a:cs typeface="Times New Roman"/>
                        </a:rPr>
                        <a:t> </a:t>
                      </a:r>
                      <a:r>
                        <a:rPr sz="1600" b="1" spc="-10" dirty="0">
                          <a:latin typeface="Times New Roman"/>
                          <a:cs typeface="Times New Roman"/>
                        </a:rPr>
                        <a:t>No.</a:t>
                      </a:r>
                      <a:endParaRPr sz="1600" dirty="0">
                        <a:latin typeface="Times New Roman"/>
                        <a:cs typeface="Times New Roman"/>
                      </a:endParaRPr>
                    </a:p>
                  </a:txBody>
                  <a:tcPr marL="0" marR="0" marT="609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512344">
                <a:tc>
                  <a:txBody>
                    <a:bodyPr/>
                    <a:lstStyle/>
                    <a:p>
                      <a:pPr marL="300355" algn="ctr">
                        <a:lnSpc>
                          <a:spcPct val="100000"/>
                        </a:lnSpc>
                        <a:spcBef>
                          <a:spcPts val="5"/>
                        </a:spcBef>
                      </a:pPr>
                      <a:endParaRPr lang="en-US" sz="1400" spc="0" dirty="0">
                        <a:latin typeface="Times New Roman"/>
                        <a:cs typeface="Times New Roman"/>
                      </a:endParaRPr>
                    </a:p>
                    <a:p>
                      <a:pPr marL="300355" algn="ctr">
                        <a:lnSpc>
                          <a:spcPct val="100000"/>
                        </a:lnSpc>
                        <a:spcBef>
                          <a:spcPts val="5"/>
                        </a:spcBef>
                      </a:pPr>
                      <a:r>
                        <a:rPr sz="1400" spc="-50" dirty="0">
                          <a:latin typeface="Times New Roman"/>
                          <a:cs typeface="Times New Roman"/>
                        </a:rPr>
                        <a:t>1</a:t>
                      </a:r>
                      <a:endParaRPr sz="1400" dirty="0">
                        <a:latin typeface="Times New Roman"/>
                        <a:cs typeface="Times New Roman"/>
                      </a:endParaRPr>
                    </a:p>
                  </a:txBody>
                  <a:tcPr marL="0" marR="0" marT="19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191260" algn="l">
                        <a:lnSpc>
                          <a:spcPct val="100000"/>
                        </a:lnSpc>
                        <a:spcBef>
                          <a:spcPts val="975"/>
                        </a:spcBef>
                      </a:pPr>
                      <a:r>
                        <a:rPr lang="en-IN" sz="1400" b="1" dirty="0">
                          <a:latin typeface="Times New Roman"/>
                          <a:cs typeface="Times New Roman"/>
                        </a:rPr>
                        <a:t>Yash Mohan Jadhav </a:t>
                      </a:r>
                    </a:p>
                  </a:txBody>
                  <a:tcPr marL="0" marR="0" marT="1238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04775" algn="ctr">
                        <a:lnSpc>
                          <a:spcPct val="100000"/>
                        </a:lnSpc>
                        <a:spcBef>
                          <a:spcPts val="975"/>
                        </a:spcBef>
                      </a:pPr>
                      <a:r>
                        <a:rPr lang="en-IN" sz="1400" dirty="0">
                          <a:latin typeface="Times New Roman"/>
                          <a:cs typeface="Times New Roman"/>
                        </a:rPr>
                        <a:t>VU4F2223013</a:t>
                      </a:r>
                      <a:endParaRPr sz="1400" dirty="0">
                        <a:latin typeface="Times New Roman"/>
                        <a:cs typeface="Times New Roman"/>
                      </a:endParaRPr>
                    </a:p>
                  </a:txBody>
                  <a:tcPr marL="0" marR="0" marT="1238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93653">
                <a:tc>
                  <a:txBody>
                    <a:bodyPr/>
                    <a:lstStyle/>
                    <a:p>
                      <a:pPr marL="281305" algn="ctr">
                        <a:lnSpc>
                          <a:spcPct val="100000"/>
                        </a:lnSpc>
                        <a:spcBef>
                          <a:spcPts val="535"/>
                        </a:spcBef>
                      </a:pPr>
                      <a:r>
                        <a:rPr sz="1400" spc="-50" dirty="0">
                          <a:latin typeface="Times New Roman"/>
                          <a:cs typeface="Times New Roman"/>
                        </a:rPr>
                        <a:t>2</a:t>
                      </a:r>
                      <a:endParaRPr sz="1400" dirty="0">
                        <a:latin typeface="Times New Roman"/>
                        <a:cs typeface="Times New Roman"/>
                      </a:endParaRPr>
                    </a:p>
                  </a:txBody>
                  <a:tcPr marL="0" marR="0" marT="67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191260" algn="l">
                        <a:lnSpc>
                          <a:spcPct val="100000"/>
                        </a:lnSpc>
                        <a:spcBef>
                          <a:spcPts val="535"/>
                        </a:spcBef>
                      </a:pPr>
                      <a:r>
                        <a:rPr lang="en-IN" sz="1400" b="1" dirty="0">
                          <a:latin typeface="Times New Roman"/>
                          <a:cs typeface="Times New Roman"/>
                        </a:rPr>
                        <a:t>Chinmay Santosh Shinde </a:t>
                      </a:r>
                    </a:p>
                  </a:txBody>
                  <a:tcPr marL="0" marR="0" marT="67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04775" algn="ctr">
                        <a:lnSpc>
                          <a:spcPct val="100000"/>
                        </a:lnSpc>
                        <a:spcBef>
                          <a:spcPts val="535"/>
                        </a:spcBef>
                      </a:pPr>
                      <a:r>
                        <a:rPr lang="en-IN" sz="1400" dirty="0">
                          <a:latin typeface="Times New Roman"/>
                          <a:cs typeface="Times New Roman"/>
                        </a:rPr>
                        <a:t>VU4F2223018</a:t>
                      </a:r>
                      <a:endParaRPr sz="1400" dirty="0">
                        <a:latin typeface="Times New Roman"/>
                        <a:cs typeface="Times New Roman"/>
                      </a:endParaRPr>
                    </a:p>
                  </a:txBody>
                  <a:tcPr marL="0" marR="0" marT="679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410054">
                <a:tc>
                  <a:txBody>
                    <a:bodyPr/>
                    <a:lstStyle/>
                    <a:p>
                      <a:pPr marL="281305" algn="ctr">
                        <a:lnSpc>
                          <a:spcPct val="100000"/>
                        </a:lnSpc>
                        <a:spcBef>
                          <a:spcPts val="555"/>
                        </a:spcBef>
                      </a:pPr>
                      <a:r>
                        <a:rPr sz="1400" spc="-50" dirty="0">
                          <a:latin typeface="Times New Roman"/>
                          <a:cs typeface="Times New Roman"/>
                        </a:rPr>
                        <a:t>3</a:t>
                      </a:r>
                      <a:endParaRPr sz="1400">
                        <a:latin typeface="Times New Roman"/>
                        <a:cs typeface="Times New Roman"/>
                      </a:endParaRPr>
                    </a:p>
                  </a:txBody>
                  <a:tcPr marL="0" marR="0" marT="704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191260" algn="l">
                        <a:lnSpc>
                          <a:spcPct val="100000"/>
                        </a:lnSpc>
                        <a:spcBef>
                          <a:spcPts val="555"/>
                        </a:spcBef>
                      </a:pPr>
                      <a:r>
                        <a:rPr lang="en-IN" sz="1400" b="1" dirty="0">
                          <a:latin typeface="Times New Roman"/>
                          <a:cs typeface="Times New Roman"/>
                        </a:rPr>
                        <a:t>Sujal Anil Mohite </a:t>
                      </a:r>
                    </a:p>
                  </a:txBody>
                  <a:tcPr marL="0" marR="0" marT="704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14300" algn="ctr">
                        <a:lnSpc>
                          <a:spcPct val="100000"/>
                        </a:lnSpc>
                        <a:spcBef>
                          <a:spcPts val="555"/>
                        </a:spcBef>
                      </a:pPr>
                      <a:r>
                        <a:rPr lang="en-IN" sz="1400" dirty="0">
                          <a:latin typeface="Times New Roman"/>
                          <a:cs typeface="Times New Roman"/>
                        </a:rPr>
                        <a:t>VU4F2223011</a:t>
                      </a:r>
                      <a:endParaRPr sz="1400" dirty="0">
                        <a:latin typeface="Times New Roman"/>
                        <a:cs typeface="Times New Roman"/>
                      </a:endParaRPr>
                    </a:p>
                  </a:txBody>
                  <a:tcPr marL="0" marR="0" marT="704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459261">
                <a:tc>
                  <a:txBody>
                    <a:bodyPr/>
                    <a:lstStyle/>
                    <a:p>
                      <a:pPr marL="281305" algn="ctr">
                        <a:lnSpc>
                          <a:spcPct val="100000"/>
                        </a:lnSpc>
                        <a:spcBef>
                          <a:spcPts val="980"/>
                        </a:spcBef>
                      </a:pPr>
                      <a:r>
                        <a:rPr sz="1400" spc="-50" dirty="0">
                          <a:latin typeface="Times New Roman"/>
                          <a:cs typeface="Times New Roman"/>
                        </a:rPr>
                        <a:t>4</a:t>
                      </a:r>
                      <a:endParaRPr sz="1400" dirty="0">
                        <a:latin typeface="Times New Roman"/>
                        <a:cs typeface="Times New Roman"/>
                      </a:endParaRPr>
                    </a:p>
                  </a:txBody>
                  <a:tcPr marL="0" marR="0" marT="1244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191260" algn="l">
                        <a:lnSpc>
                          <a:spcPct val="100000"/>
                        </a:lnSpc>
                        <a:spcBef>
                          <a:spcPts val="980"/>
                        </a:spcBef>
                      </a:pPr>
                      <a:r>
                        <a:rPr lang="en-IN" sz="1400" b="1" dirty="0">
                          <a:latin typeface="Times New Roman"/>
                          <a:cs typeface="Times New Roman"/>
                        </a:rPr>
                        <a:t>Chandan </a:t>
                      </a:r>
                      <a:r>
                        <a:rPr lang="en-IN" sz="1400" b="1" dirty="0" err="1">
                          <a:latin typeface="Times New Roman"/>
                          <a:cs typeface="Times New Roman"/>
                        </a:rPr>
                        <a:t>Durgaramji</a:t>
                      </a:r>
                      <a:r>
                        <a:rPr lang="en-IN" sz="1400" b="1" dirty="0">
                          <a:latin typeface="Times New Roman"/>
                          <a:cs typeface="Times New Roman"/>
                        </a:rPr>
                        <a:t> Malviya </a:t>
                      </a:r>
                    </a:p>
                  </a:txBody>
                  <a:tcPr marL="0" marR="0" marT="1244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04775" algn="ctr">
                        <a:lnSpc>
                          <a:spcPct val="100000"/>
                        </a:lnSpc>
                        <a:spcBef>
                          <a:spcPts val="980"/>
                        </a:spcBef>
                      </a:pPr>
                      <a:r>
                        <a:rPr lang="en-IN" sz="1400" dirty="0">
                          <a:latin typeface="Times New Roman"/>
                          <a:cs typeface="Times New Roman"/>
                        </a:rPr>
                        <a:t>VU4F2223012</a:t>
                      </a:r>
                      <a:endParaRPr sz="1400" dirty="0">
                        <a:latin typeface="Times New Roman"/>
                        <a:cs typeface="Times New Roman"/>
                      </a:endParaRPr>
                    </a:p>
                  </a:txBody>
                  <a:tcPr marL="0" marR="0" marT="1244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sp>
        <p:nvSpPr>
          <p:cNvPr id="5" name="object 5"/>
          <p:cNvSpPr txBox="1"/>
          <p:nvPr/>
        </p:nvSpPr>
        <p:spPr>
          <a:xfrm>
            <a:off x="3723412" y="5277999"/>
            <a:ext cx="1696719" cy="1036181"/>
          </a:xfrm>
          <a:prstGeom prst="rect">
            <a:avLst/>
          </a:prstGeom>
        </p:spPr>
        <p:txBody>
          <a:bodyPr vert="horz" wrap="square" lIns="0" tIns="12700" rIns="0" bIns="0" rtlCol="0" anchor="t">
            <a:spAutoFit/>
          </a:bodyPr>
          <a:lstStyle/>
          <a:p>
            <a:pPr marL="13970" marR="5080" indent="-2540" algn="ctr">
              <a:spcBef>
                <a:spcPts val="100"/>
              </a:spcBef>
            </a:pPr>
            <a:endParaRPr lang="en-US" sz="1200" b="1" dirty="0">
              <a:latin typeface="Times New Roman"/>
              <a:cs typeface="Times New Roman"/>
            </a:endParaRPr>
          </a:p>
          <a:p>
            <a:pPr marL="13970" marR="5080" indent="-2540" algn="ctr">
              <a:spcBef>
                <a:spcPts val="100"/>
              </a:spcBef>
            </a:pPr>
            <a:r>
              <a:rPr sz="1300" b="1" dirty="0">
                <a:latin typeface="Times New Roman"/>
                <a:cs typeface="Times New Roman"/>
              </a:rPr>
              <a:t>Under</a:t>
            </a:r>
            <a:r>
              <a:rPr sz="1300" b="1" spc="-25" dirty="0">
                <a:latin typeface="Times New Roman"/>
                <a:cs typeface="Times New Roman"/>
              </a:rPr>
              <a:t> </a:t>
            </a:r>
            <a:r>
              <a:rPr sz="1300" b="1" dirty="0">
                <a:latin typeface="Times New Roman"/>
                <a:cs typeface="Times New Roman"/>
              </a:rPr>
              <a:t>the</a:t>
            </a:r>
            <a:r>
              <a:rPr sz="1300" b="1" spc="-20" dirty="0">
                <a:latin typeface="Times New Roman"/>
                <a:cs typeface="Times New Roman"/>
              </a:rPr>
              <a:t> </a:t>
            </a:r>
            <a:r>
              <a:rPr sz="1300" b="1" dirty="0">
                <a:latin typeface="Times New Roman"/>
                <a:cs typeface="Times New Roman"/>
              </a:rPr>
              <a:t>Guidance</a:t>
            </a:r>
            <a:r>
              <a:rPr lang="en-US" sz="1300" b="1" dirty="0">
                <a:latin typeface="Times New Roman"/>
                <a:cs typeface="Times New Roman"/>
              </a:rPr>
              <a:t> </a:t>
            </a:r>
            <a:r>
              <a:rPr sz="1300" b="1" spc="-25" dirty="0">
                <a:latin typeface="Times New Roman"/>
                <a:cs typeface="Times New Roman"/>
              </a:rPr>
              <a:t>of</a:t>
            </a:r>
            <a:endParaRPr lang="en-US" sz="1300" b="1" spc="-25" dirty="0">
              <a:latin typeface="Times New Roman"/>
              <a:cs typeface="Times New Roman"/>
            </a:endParaRPr>
          </a:p>
          <a:p>
            <a:pPr marL="13970" marR="5080" indent="-2540" algn="ctr">
              <a:spcBef>
                <a:spcPts val="100"/>
              </a:spcBef>
            </a:pPr>
            <a:r>
              <a:rPr sz="1300" b="1" spc="-25" dirty="0">
                <a:latin typeface="Times New Roman"/>
                <a:cs typeface="Times New Roman"/>
              </a:rPr>
              <a:t> </a:t>
            </a:r>
            <a:r>
              <a:rPr lang="en-US" sz="1300" b="1" spc="-25" dirty="0">
                <a:latin typeface="Times New Roman"/>
                <a:cs typeface="Times New Roman"/>
              </a:rPr>
              <a:t>Mrs. Ashwini Mulik </a:t>
            </a:r>
            <a:r>
              <a:rPr sz="1300" b="1" spc="-10" dirty="0">
                <a:latin typeface="Times New Roman"/>
                <a:cs typeface="Times New Roman"/>
              </a:rPr>
              <a:t> </a:t>
            </a:r>
            <a:r>
              <a:rPr sz="1300" b="1" dirty="0">
                <a:latin typeface="Times New Roman"/>
                <a:cs typeface="Times New Roman"/>
              </a:rPr>
              <a:t>Assistant </a:t>
            </a:r>
            <a:r>
              <a:rPr lang="en-US" sz="1300" b="1" spc="-10" dirty="0">
                <a:latin typeface="Times New Roman"/>
                <a:cs typeface="Times New Roman"/>
              </a:rPr>
              <a:t>Professor</a:t>
            </a:r>
            <a:endParaRPr lang="en-US" sz="1300" dirty="0">
              <a:latin typeface="Times New Roman"/>
              <a:cs typeface="Times New Roman"/>
            </a:endParaRPr>
          </a:p>
          <a:p>
            <a:pPr marL="13970" marR="5080" indent="-2540" algn="ctr">
              <a:lnSpc>
                <a:spcPct val="100000"/>
              </a:lnSpc>
              <a:spcBef>
                <a:spcPts val="100"/>
              </a:spcBef>
            </a:pPr>
            <a:r>
              <a:rPr lang="en-US" sz="1300" b="1" spc="-85" dirty="0">
                <a:latin typeface="Times New Roman"/>
                <a:cs typeface="Times New Roman"/>
              </a:rPr>
              <a:t>AY</a:t>
            </a:r>
            <a:r>
              <a:rPr sz="1300" b="1" spc="-85" dirty="0">
                <a:latin typeface="Times New Roman"/>
                <a:cs typeface="Times New Roman"/>
              </a:rPr>
              <a:t>:</a:t>
            </a:r>
            <a:r>
              <a:rPr sz="1300" b="1" spc="20" dirty="0">
                <a:latin typeface="Times New Roman"/>
                <a:cs typeface="Times New Roman"/>
              </a:rPr>
              <a:t> </a:t>
            </a:r>
            <a:r>
              <a:rPr sz="1300" b="1" dirty="0">
                <a:latin typeface="Times New Roman"/>
                <a:cs typeface="Times New Roman"/>
              </a:rPr>
              <a:t>2025-</a:t>
            </a:r>
            <a:r>
              <a:rPr sz="1300" b="1" spc="-25" dirty="0">
                <a:latin typeface="Times New Roman"/>
                <a:cs typeface="Times New Roman"/>
              </a:rPr>
              <a:t>26</a:t>
            </a:r>
            <a:endParaRPr lang="en-US" sz="1300" dirty="0">
              <a:latin typeface="Times New Roman"/>
              <a:cs typeface="Times New Roman"/>
            </a:endParaRPr>
          </a:p>
        </p:txBody>
      </p:sp>
      <p:pic>
        <p:nvPicPr>
          <p:cNvPr id="6" name="object 6"/>
          <p:cNvPicPr/>
          <p:nvPr/>
        </p:nvPicPr>
        <p:blipFill>
          <a:blip r:embed="rId2" cstate="print"/>
          <a:stretch>
            <a:fillRect/>
          </a:stretch>
        </p:blipFill>
        <p:spPr>
          <a:xfrm>
            <a:off x="1136320" y="151230"/>
            <a:ext cx="6690858" cy="644598"/>
          </a:xfrm>
          <a:prstGeom prst="rect">
            <a:avLst/>
          </a:prstGeom>
        </p:spPr>
      </p:pic>
      <p:sp>
        <p:nvSpPr>
          <p:cNvPr id="7" name="object 7"/>
          <p:cNvSpPr txBox="1">
            <a:spLocks noGrp="1"/>
          </p:cNvSpPr>
          <p:nvPr>
            <p:ph type="ftr" sz="quarter" idx="5"/>
          </p:nvPr>
        </p:nvSpPr>
        <p:spPr>
          <a:xfrm>
            <a:off x="195997" y="6259837"/>
            <a:ext cx="1696720" cy="140423"/>
          </a:xfrm>
          <a:prstGeom prst="rect">
            <a:avLst/>
          </a:prstGeom>
        </p:spPr>
        <p:txBody>
          <a:bodyPr vert="horz" wrap="square" lIns="0" tIns="1905" rIns="0" bIns="0" rtlCol="0">
            <a:spAutoFit/>
          </a:bodyPr>
          <a:lstStyle/>
          <a:p>
            <a:pPr marL="12700">
              <a:lnSpc>
                <a:spcPct val="100000"/>
              </a:lnSpc>
              <a:spcBef>
                <a:spcPts val="15"/>
              </a:spcBef>
            </a:pPr>
            <a:r>
              <a:rPr dirty="0"/>
              <a:t>BE-</a:t>
            </a:r>
            <a:r>
              <a:rPr spc="-10" dirty="0"/>
              <a:t> </a:t>
            </a:r>
            <a:r>
              <a:rPr lang="en-US" spc="-10" dirty="0"/>
              <a:t>Major </a:t>
            </a:r>
            <a:r>
              <a:rPr dirty="0"/>
              <a:t>Project</a:t>
            </a:r>
            <a:r>
              <a:rPr spc="-10" dirty="0"/>
              <a:t> </a:t>
            </a:r>
            <a:r>
              <a:rPr dirty="0"/>
              <a:t>-</a:t>
            </a:r>
            <a:r>
              <a:rPr spc="-5" dirty="0"/>
              <a:t> </a:t>
            </a:r>
            <a:r>
              <a:rPr spc="-20" dirty="0"/>
              <a:t>SH25</a:t>
            </a:r>
          </a:p>
        </p:txBody>
      </p:sp>
      <p:sp>
        <p:nvSpPr>
          <p:cNvPr id="8" name="TextBox 7">
            <a:extLst>
              <a:ext uri="{FF2B5EF4-FFF2-40B4-BE49-F238E27FC236}">
                <a16:creationId xmlns:a16="http://schemas.microsoft.com/office/drawing/2014/main" id="{46F2D0A4-5A69-EA79-FF80-C89733665136}"/>
              </a:ext>
            </a:extLst>
          </p:cNvPr>
          <p:cNvSpPr txBox="1"/>
          <p:nvPr/>
        </p:nvSpPr>
        <p:spPr>
          <a:xfrm>
            <a:off x="669756" y="1558386"/>
            <a:ext cx="780402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latin typeface="Times New Roman"/>
                <a:cs typeface="Times New Roman"/>
              </a:rPr>
              <a:t>Project Title: Aura life (AI Based Personal Health &amp; Lifestyle Using AI&amp;ML)</a:t>
            </a:r>
            <a:endParaRPr lang="en-US" sz="2400" dirty="0">
              <a:solidFill>
                <a:srgbClr val="000000"/>
              </a:solidFill>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59356" y="1131440"/>
            <a:ext cx="2965642" cy="382156"/>
          </a:xfrm>
          <a:prstGeom prst="rect">
            <a:avLst/>
          </a:prstGeom>
        </p:spPr>
        <p:txBody>
          <a:bodyPr vert="horz" wrap="square" lIns="0" tIns="12700" rIns="0" bIns="0" rtlCol="0">
            <a:spAutoFit/>
          </a:bodyPr>
          <a:lstStyle/>
          <a:p>
            <a:pPr marL="804545">
              <a:lnSpc>
                <a:spcPct val="100000"/>
              </a:lnSpc>
              <a:spcBef>
                <a:spcPts val="100"/>
              </a:spcBef>
            </a:pPr>
            <a:r>
              <a:rPr spc="-10" dirty="0"/>
              <a:t>Introduction</a:t>
            </a:r>
            <a:r>
              <a:rPr lang="en-US" spc="-10" dirty="0"/>
              <a:t>:</a:t>
            </a:r>
            <a:endParaRPr spc="-10" dirty="0"/>
          </a:p>
        </p:txBody>
      </p:sp>
      <p:pic>
        <p:nvPicPr>
          <p:cNvPr id="3" name="object 3"/>
          <p:cNvPicPr/>
          <p:nvPr/>
        </p:nvPicPr>
        <p:blipFill>
          <a:blip r:embed="rId2" cstate="print"/>
          <a:stretch>
            <a:fillRect/>
          </a:stretch>
        </p:blipFill>
        <p:spPr>
          <a:xfrm>
            <a:off x="1136320" y="151231"/>
            <a:ext cx="6690858" cy="644598"/>
          </a:xfrm>
          <a:prstGeom prst="rect">
            <a:avLst/>
          </a:prstGeom>
        </p:spPr>
      </p:pic>
      <p:sp>
        <p:nvSpPr>
          <p:cNvPr id="4" name="object 4"/>
          <p:cNvSpPr txBox="1">
            <a:spLocks noGrp="1"/>
          </p:cNvSpPr>
          <p:nvPr>
            <p:ph type="ftr" sz="quarter" idx="5"/>
          </p:nvPr>
        </p:nvSpPr>
        <p:spPr>
          <a:xfrm>
            <a:off x="195997" y="6259837"/>
            <a:ext cx="1696720" cy="140423"/>
          </a:xfrm>
          <a:prstGeom prst="rect">
            <a:avLst/>
          </a:prstGeom>
        </p:spPr>
        <p:txBody>
          <a:bodyPr vert="horz" wrap="square" lIns="0" tIns="1905" rIns="0" bIns="0" rtlCol="0">
            <a:spAutoFit/>
          </a:bodyPr>
          <a:lstStyle/>
          <a:p>
            <a:pPr marL="12700">
              <a:lnSpc>
                <a:spcPct val="100000"/>
              </a:lnSpc>
              <a:spcBef>
                <a:spcPts val="15"/>
              </a:spcBef>
            </a:pPr>
            <a:r>
              <a:rPr dirty="0"/>
              <a:t>BE-</a:t>
            </a:r>
            <a:r>
              <a:rPr spc="-10" dirty="0"/>
              <a:t> </a:t>
            </a:r>
            <a:r>
              <a:rPr lang="en-US" spc="-10" dirty="0"/>
              <a:t>Major </a:t>
            </a:r>
            <a:r>
              <a:rPr dirty="0"/>
              <a:t>Project</a:t>
            </a:r>
            <a:r>
              <a:rPr spc="-10" dirty="0"/>
              <a:t> </a:t>
            </a:r>
            <a:r>
              <a:rPr dirty="0"/>
              <a:t>-</a:t>
            </a:r>
            <a:r>
              <a:rPr spc="-5" dirty="0"/>
              <a:t> </a:t>
            </a:r>
            <a:r>
              <a:rPr spc="-20" dirty="0"/>
              <a:t>SH25</a:t>
            </a:r>
          </a:p>
        </p:txBody>
      </p:sp>
      <p:sp>
        <p:nvSpPr>
          <p:cNvPr id="6" name="TextBox 5">
            <a:extLst>
              <a:ext uri="{FF2B5EF4-FFF2-40B4-BE49-F238E27FC236}">
                <a16:creationId xmlns:a16="http://schemas.microsoft.com/office/drawing/2014/main" id="{D21B938F-4936-0252-B733-F76D3A988CEB}"/>
              </a:ext>
            </a:extLst>
          </p:cNvPr>
          <p:cNvSpPr txBox="1"/>
          <p:nvPr/>
        </p:nvSpPr>
        <p:spPr>
          <a:xfrm>
            <a:off x="418568" y="1584987"/>
            <a:ext cx="8378749" cy="4524315"/>
          </a:xfrm>
          <a:prstGeom prst="rect">
            <a:avLst/>
          </a:prstGeom>
          <a:noFill/>
        </p:spPr>
        <p:txBody>
          <a:bodyPr wrap="square" lIns="91440" tIns="45720" rIns="91440" bIns="45720" anchor="t">
            <a:spAutoFit/>
          </a:bodyPr>
          <a:lstStyle/>
          <a:p>
            <a:pPr marL="285750" indent="-285750" algn="l">
              <a:buFont typeface="Arial" panose="020B0604020202020204" pitchFamily="34" charset="0"/>
              <a:buChar char="•"/>
            </a:pPr>
            <a:r>
              <a:rPr lang="en-US" dirty="0"/>
              <a:t>In the modern era, lifestyle-related diseases and mental health issues have been increasing due to hectic schedules, poor dietary habits, and lack of health awareness.</a:t>
            </a:r>
          </a:p>
          <a:p>
            <a:pPr marL="285750" indent="-285750" algn="l">
              <a:buFont typeface="Arial" panose="020B0604020202020204" pitchFamily="34" charset="0"/>
              <a:buChar char="•"/>
            </a:pPr>
            <a:endParaRPr lang="en-US" dirty="0"/>
          </a:p>
          <a:p>
            <a:pPr marL="285750" indent="-285750" algn="l">
              <a:buFont typeface="Arial" panose="020B0604020202020204" pitchFamily="34" charset="0"/>
              <a:buChar char="•"/>
            </a:pPr>
            <a:r>
              <a:rPr lang="en-US" dirty="0"/>
              <a:t> Artificial Intelligence (AI) and Machine Learning (ML) offer powerful tools to analyze personal health data, predict potential diseases, and recommend personalized lifestyle changes.</a:t>
            </a:r>
          </a:p>
          <a:p>
            <a:pPr algn="l"/>
            <a:endParaRPr lang="en-US" dirty="0"/>
          </a:p>
          <a:p>
            <a:pPr marL="285750" indent="-285750" algn="l">
              <a:buFont typeface="Arial" panose="020B0604020202020204" pitchFamily="34" charset="0"/>
              <a:buChar char="•"/>
            </a:pPr>
            <a:r>
              <a:rPr lang="en-US" dirty="0"/>
              <a:t> This project aims to develop an AI-based personal health and lifestyle application that can track mental and physical health, predict possible diseases from symptoms, and provide AI-driven diet, fitness, and habit recommendations.</a:t>
            </a:r>
          </a:p>
          <a:p>
            <a:pPr algn="l"/>
            <a:r>
              <a:rPr lang="en-US" dirty="0"/>
              <a:t> </a:t>
            </a:r>
          </a:p>
          <a:p>
            <a:pPr marL="285750" indent="-285750" algn="l">
              <a:buFont typeface="Arial" panose="020B0604020202020204" pitchFamily="34" charset="0"/>
              <a:buChar char="•"/>
            </a:pPr>
            <a:r>
              <a:rPr lang="en-US" dirty="0"/>
              <a:t>The system will also feature health data trend analysis, medical chatbots, and location-based doctor recommendations.</a:t>
            </a:r>
          </a:p>
          <a:p>
            <a:pPr marL="285750" indent="-285750" algn="l">
              <a:buFont typeface="Arial"/>
              <a:buChar char="•"/>
            </a:pP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7000" y="615037"/>
            <a:ext cx="3363177" cy="589479"/>
          </a:xfrm>
          <a:prstGeom prst="rect">
            <a:avLst/>
          </a:prstGeom>
        </p:spPr>
        <p:txBody>
          <a:bodyPr vert="horz" wrap="square" lIns="0" tIns="218018" rIns="0" bIns="0" rtlCol="0" anchor="ctr">
            <a:spAutoFit/>
          </a:bodyPr>
          <a:lstStyle/>
          <a:p>
            <a:pPr marL="785495" algn="l">
              <a:lnSpc>
                <a:spcPct val="100000"/>
              </a:lnSpc>
              <a:spcBef>
                <a:spcPts val="100"/>
              </a:spcBef>
            </a:pPr>
            <a:r>
              <a:rPr lang="en-US" spc="-10" dirty="0"/>
              <a:t>Literature Survey:</a:t>
            </a:r>
            <a:endParaRPr lang="en-US" dirty="0"/>
          </a:p>
        </p:txBody>
      </p:sp>
      <p:pic>
        <p:nvPicPr>
          <p:cNvPr id="4" name="object 4"/>
          <p:cNvPicPr/>
          <p:nvPr/>
        </p:nvPicPr>
        <p:blipFill>
          <a:blip r:embed="rId2" cstate="print"/>
          <a:stretch>
            <a:fillRect/>
          </a:stretch>
        </p:blipFill>
        <p:spPr>
          <a:xfrm>
            <a:off x="1136320" y="151231"/>
            <a:ext cx="6690858" cy="644598"/>
          </a:xfrm>
          <a:prstGeom prst="rect">
            <a:avLst/>
          </a:prstGeom>
        </p:spPr>
      </p:pic>
      <p:sp>
        <p:nvSpPr>
          <p:cNvPr id="5" name="object 5"/>
          <p:cNvSpPr txBox="1">
            <a:spLocks noGrp="1"/>
          </p:cNvSpPr>
          <p:nvPr>
            <p:ph type="ftr" sz="quarter" idx="5"/>
          </p:nvPr>
        </p:nvSpPr>
        <p:spPr>
          <a:xfrm>
            <a:off x="76200" y="6717577"/>
            <a:ext cx="1696720" cy="140423"/>
          </a:xfrm>
          <a:prstGeom prst="rect">
            <a:avLst/>
          </a:prstGeom>
        </p:spPr>
        <p:txBody>
          <a:bodyPr vert="horz" wrap="square" lIns="0" tIns="1905" rIns="0" bIns="0" rtlCol="0">
            <a:spAutoFit/>
          </a:bodyPr>
          <a:lstStyle/>
          <a:p>
            <a:pPr marL="12700">
              <a:lnSpc>
                <a:spcPct val="100000"/>
              </a:lnSpc>
              <a:spcBef>
                <a:spcPts val="15"/>
              </a:spcBef>
            </a:pPr>
            <a:r>
              <a:rPr dirty="0"/>
              <a:t>BE-</a:t>
            </a:r>
            <a:r>
              <a:rPr spc="-10" dirty="0"/>
              <a:t> </a:t>
            </a:r>
            <a:r>
              <a:rPr lang="en-US" spc="-10" dirty="0"/>
              <a:t>Major </a:t>
            </a:r>
            <a:r>
              <a:rPr spc="-10" dirty="0"/>
              <a:t> </a:t>
            </a:r>
            <a:r>
              <a:rPr dirty="0"/>
              <a:t>Project</a:t>
            </a:r>
            <a:r>
              <a:rPr spc="-10" dirty="0"/>
              <a:t> </a:t>
            </a:r>
            <a:r>
              <a:rPr dirty="0"/>
              <a:t>-</a:t>
            </a:r>
            <a:r>
              <a:rPr spc="-5" dirty="0"/>
              <a:t> </a:t>
            </a:r>
            <a:r>
              <a:rPr spc="-20" dirty="0"/>
              <a:t>SH25</a:t>
            </a:r>
          </a:p>
        </p:txBody>
      </p:sp>
      <p:graphicFrame>
        <p:nvGraphicFramePr>
          <p:cNvPr id="8" name="Table 7">
            <a:extLst>
              <a:ext uri="{FF2B5EF4-FFF2-40B4-BE49-F238E27FC236}">
                <a16:creationId xmlns:a16="http://schemas.microsoft.com/office/drawing/2014/main" id="{BCD3B896-9B12-FE1F-FEA9-ACB5016BCB74}"/>
              </a:ext>
            </a:extLst>
          </p:cNvPr>
          <p:cNvGraphicFramePr>
            <a:graphicFrameLocks noGrp="1"/>
          </p:cNvGraphicFramePr>
          <p:nvPr>
            <p:extLst>
              <p:ext uri="{D42A27DB-BD31-4B8C-83A1-F6EECF244321}">
                <p14:modId xmlns:p14="http://schemas.microsoft.com/office/powerpoint/2010/main" val="929560258"/>
              </p:ext>
            </p:extLst>
          </p:nvPr>
        </p:nvGraphicFramePr>
        <p:xfrm>
          <a:off x="329576" y="1642922"/>
          <a:ext cx="8484848" cy="4663440"/>
        </p:xfrm>
        <a:graphic>
          <a:graphicData uri="http://schemas.openxmlformats.org/drawingml/2006/table">
            <a:tbl>
              <a:tblPr firstRow="1" bandRow="1">
                <a:tableStyleId>{3C2FFA5D-87B4-456A-9821-1D502468CF0F}</a:tableStyleId>
              </a:tblPr>
              <a:tblGrid>
                <a:gridCol w="864972">
                  <a:extLst>
                    <a:ext uri="{9D8B030D-6E8A-4147-A177-3AD203B41FA5}">
                      <a16:colId xmlns:a16="http://schemas.microsoft.com/office/drawing/2014/main" val="826174895"/>
                    </a:ext>
                  </a:extLst>
                </a:gridCol>
                <a:gridCol w="2077970">
                  <a:extLst>
                    <a:ext uri="{9D8B030D-6E8A-4147-A177-3AD203B41FA5}">
                      <a16:colId xmlns:a16="http://schemas.microsoft.com/office/drawing/2014/main" val="2305475308"/>
                    </a:ext>
                  </a:extLst>
                </a:gridCol>
                <a:gridCol w="1847302">
                  <a:extLst>
                    <a:ext uri="{9D8B030D-6E8A-4147-A177-3AD203B41FA5}">
                      <a16:colId xmlns:a16="http://schemas.microsoft.com/office/drawing/2014/main" val="2875556197"/>
                    </a:ext>
                  </a:extLst>
                </a:gridCol>
                <a:gridCol w="1847302">
                  <a:extLst>
                    <a:ext uri="{9D8B030D-6E8A-4147-A177-3AD203B41FA5}">
                      <a16:colId xmlns:a16="http://schemas.microsoft.com/office/drawing/2014/main" val="2758781992"/>
                    </a:ext>
                  </a:extLst>
                </a:gridCol>
                <a:gridCol w="1847302">
                  <a:extLst>
                    <a:ext uri="{9D8B030D-6E8A-4147-A177-3AD203B41FA5}">
                      <a16:colId xmlns:a16="http://schemas.microsoft.com/office/drawing/2014/main" val="831443311"/>
                    </a:ext>
                  </a:extLst>
                </a:gridCol>
              </a:tblGrid>
              <a:tr h="609600">
                <a:tc>
                  <a:txBody>
                    <a:bodyPr/>
                    <a:lstStyle/>
                    <a:p>
                      <a:pPr marL="176530" algn="ctr">
                        <a:lnSpc>
                          <a:spcPct val="100000"/>
                        </a:lnSpc>
                        <a:spcBef>
                          <a:spcPts val="470"/>
                        </a:spcBef>
                      </a:pPr>
                      <a:r>
                        <a:rPr sz="1400" spc="-10" dirty="0"/>
                        <a:t>SR.NO.</a:t>
                      </a:r>
                      <a:endParaRPr sz="1400" dirty="0">
                        <a:latin typeface="Times New Roman"/>
                        <a:cs typeface="Times New Roman"/>
                      </a:endParaRPr>
                    </a:p>
                  </a:txBody>
                  <a:tcPr marL="0" marR="0" marT="59690" marB="0" anchor="ctr"/>
                </a:tc>
                <a:tc>
                  <a:txBody>
                    <a:bodyPr/>
                    <a:lstStyle/>
                    <a:p>
                      <a:pPr marL="186055" algn="ctr">
                        <a:lnSpc>
                          <a:spcPct val="100000"/>
                        </a:lnSpc>
                        <a:spcBef>
                          <a:spcPts val="470"/>
                        </a:spcBef>
                      </a:pPr>
                      <a:r>
                        <a:rPr sz="1400" spc="-20" dirty="0"/>
                        <a:t>PAPER</a:t>
                      </a:r>
                      <a:r>
                        <a:rPr sz="1400" spc="-55" dirty="0"/>
                        <a:t> </a:t>
                      </a:r>
                      <a:r>
                        <a:rPr sz="1400" spc="-10" dirty="0"/>
                        <a:t>DETAIL</a:t>
                      </a:r>
                      <a:endParaRPr sz="1400" dirty="0">
                        <a:latin typeface="Times New Roman"/>
                        <a:cs typeface="Times New Roman"/>
                      </a:endParaRPr>
                    </a:p>
                  </a:txBody>
                  <a:tcPr marL="0" marR="0" marT="59690" marB="0" anchor="ctr"/>
                </a:tc>
                <a:tc>
                  <a:txBody>
                    <a:bodyPr/>
                    <a:lstStyle/>
                    <a:p>
                      <a:pPr marL="176530" algn="ctr">
                        <a:lnSpc>
                          <a:spcPct val="100000"/>
                        </a:lnSpc>
                        <a:spcBef>
                          <a:spcPts val="470"/>
                        </a:spcBef>
                      </a:pPr>
                      <a:r>
                        <a:rPr sz="1400" spc="-10" dirty="0"/>
                        <a:t>METHOD</a:t>
                      </a:r>
                      <a:endParaRPr sz="1400" dirty="0">
                        <a:latin typeface="Times New Roman"/>
                        <a:cs typeface="Times New Roman"/>
                      </a:endParaRPr>
                    </a:p>
                  </a:txBody>
                  <a:tcPr marL="0" marR="0" marT="59690" marB="0" anchor="ctr"/>
                </a:tc>
                <a:tc>
                  <a:txBody>
                    <a:bodyPr/>
                    <a:lstStyle/>
                    <a:p>
                      <a:pPr marL="192405" algn="ctr">
                        <a:lnSpc>
                          <a:spcPct val="100000"/>
                        </a:lnSpc>
                        <a:spcBef>
                          <a:spcPts val="470"/>
                        </a:spcBef>
                      </a:pPr>
                      <a:r>
                        <a:rPr sz="1400" spc="-10" dirty="0"/>
                        <a:t>RESULT</a:t>
                      </a:r>
                      <a:endParaRPr sz="1400" dirty="0">
                        <a:latin typeface="Times New Roman"/>
                        <a:cs typeface="Times New Roman"/>
                      </a:endParaRPr>
                    </a:p>
                  </a:txBody>
                  <a:tcPr marL="0" marR="0" marT="59690" marB="0" anchor="ctr"/>
                </a:tc>
                <a:tc>
                  <a:txBody>
                    <a:bodyPr/>
                    <a:lstStyle/>
                    <a:p>
                      <a:pPr marL="179705" algn="ctr">
                        <a:lnSpc>
                          <a:spcPct val="100000"/>
                        </a:lnSpc>
                        <a:spcBef>
                          <a:spcPts val="470"/>
                        </a:spcBef>
                      </a:pPr>
                      <a:r>
                        <a:rPr sz="1400" spc="-10" dirty="0"/>
                        <a:t>SCOPE/GAP</a:t>
                      </a:r>
                      <a:endParaRPr sz="1400" dirty="0">
                        <a:latin typeface="Times New Roman"/>
                        <a:cs typeface="Times New Roman"/>
                      </a:endParaRPr>
                    </a:p>
                  </a:txBody>
                  <a:tcPr marL="0" marR="0" marT="59690" marB="0" anchor="ctr"/>
                </a:tc>
                <a:extLst>
                  <a:ext uri="{0D108BD9-81ED-4DB2-BD59-A6C34878D82A}">
                    <a16:rowId xmlns:a16="http://schemas.microsoft.com/office/drawing/2014/main" val="2867604054"/>
                  </a:ext>
                </a:extLst>
              </a:tr>
              <a:tr h="1718607">
                <a:tc>
                  <a:txBody>
                    <a:bodyPr/>
                    <a:lstStyle/>
                    <a:p>
                      <a:pPr algn="ctr">
                        <a:lnSpc>
                          <a:spcPct val="100000"/>
                        </a:lnSpc>
                        <a:spcBef>
                          <a:spcPts val="455"/>
                        </a:spcBef>
                      </a:pPr>
                      <a:r>
                        <a:rPr sz="1800" spc="-25" dirty="0"/>
                        <a:t>[1]</a:t>
                      </a:r>
                      <a:endParaRPr lang="en-IN" sz="1800" spc="-25" dirty="0"/>
                    </a:p>
                    <a:p>
                      <a:pPr algn="ctr">
                        <a:lnSpc>
                          <a:spcPct val="100000"/>
                        </a:lnSpc>
                        <a:spcBef>
                          <a:spcPts val="455"/>
                        </a:spcBef>
                      </a:pPr>
                      <a:endParaRPr lang="en-IN" sz="1800" spc="-25" dirty="0"/>
                    </a:p>
                  </a:txBody>
                  <a:tcPr marL="0" marR="0" marT="57785" marB="0" anchor="ctr">
                    <a:solidFill>
                      <a:schemeClr val="tx2">
                        <a:lumMod val="40000"/>
                        <a:lumOff val="60000"/>
                      </a:schemeClr>
                    </a:solidFill>
                  </a:tcPr>
                </a:tc>
                <a:tc>
                  <a:txBody>
                    <a:bodyPr/>
                    <a:lstStyle/>
                    <a:p>
                      <a:pPr lvl="0" algn="l">
                        <a:lnSpc>
                          <a:spcPct val="100000"/>
                        </a:lnSpc>
                        <a:buNone/>
                      </a:pPr>
                      <a:r>
                        <a:rPr lang="en-US" sz="1400" b="0" dirty="0"/>
                        <a:t>Artificial intelligence in healthcare: transforming the practice of medicine — a review (Robinson et al</a:t>
                      </a:r>
                      <a:r>
                        <a:rPr lang="en-US" sz="1400" dirty="0"/>
                        <a:t>., review article). </a:t>
                      </a:r>
                      <a:endParaRPr sz="1400" dirty="0"/>
                    </a:p>
                  </a:txBody>
                  <a:tcPr marL="0" marR="0" marT="0" marB="0" anchor="ctr">
                    <a:solidFill>
                      <a:schemeClr val="tx2">
                        <a:lumMod val="40000"/>
                        <a:lumOff val="60000"/>
                      </a:schemeClr>
                    </a:solidFill>
                  </a:tcPr>
                </a:tc>
                <a:tc>
                  <a:txBody>
                    <a:bodyPr/>
                    <a:lstStyle/>
                    <a:p>
                      <a:pPr lvl="0" algn="l">
                        <a:lnSpc>
                          <a:spcPct val="100000"/>
                        </a:lnSpc>
                        <a:buNone/>
                      </a:pPr>
                      <a:r>
                        <a:rPr lang="en-US" sz="1400" dirty="0"/>
                        <a:t>Literature review of AI applications across diagnosis, workflows, and decision support; discusses roadmaps for safe AI deployment.</a:t>
                      </a:r>
                      <a:endParaRPr sz="1400" dirty="0">
                        <a:latin typeface="Calibri"/>
                      </a:endParaRPr>
                    </a:p>
                  </a:txBody>
                  <a:tcPr marL="0" marR="0" marT="0" marB="0" anchor="ctr">
                    <a:solidFill>
                      <a:schemeClr val="tx2">
                        <a:lumMod val="40000"/>
                        <a:lumOff val="60000"/>
                      </a:schemeClr>
                    </a:solidFill>
                  </a:tcPr>
                </a:tc>
                <a:tc>
                  <a:txBody>
                    <a:bodyPr/>
                    <a:lstStyle/>
                    <a:p>
                      <a:pPr algn="l">
                        <a:lnSpc>
                          <a:spcPct val="100000"/>
                        </a:lnSpc>
                      </a:pPr>
                      <a:r>
                        <a:rPr lang="en-US" sz="1400" dirty="0"/>
                        <a:t>Summarizes AI successes (imaging, triage, EHR analytics) and highlights benefits + deployment challenges (safety, regulation, trust).</a:t>
                      </a:r>
                      <a:endParaRPr sz="1400" dirty="0">
                        <a:latin typeface="Calibri"/>
                        <a:cs typeface="Times New Roman"/>
                      </a:endParaRPr>
                    </a:p>
                  </a:txBody>
                  <a:tcPr marL="0" marR="0" marT="0" marB="0" anchor="ctr">
                    <a:solidFill>
                      <a:schemeClr val="tx2">
                        <a:lumMod val="40000"/>
                        <a:lumOff val="60000"/>
                      </a:schemeClr>
                    </a:solidFill>
                  </a:tcPr>
                </a:tc>
                <a:tc>
                  <a:txBody>
                    <a:bodyPr/>
                    <a:lstStyle/>
                    <a:p>
                      <a:pPr algn="l">
                        <a:lnSpc>
                          <a:spcPct val="100000"/>
                        </a:lnSpc>
                      </a:pPr>
                      <a:r>
                        <a:rPr lang="en-US" sz="1400" dirty="0">
                          <a:latin typeface="Calibri"/>
                          <a:cs typeface="Times New Roman"/>
                        </a:rPr>
                        <a:t>  </a:t>
                      </a:r>
                      <a:r>
                        <a:rPr lang="en-US" sz="1400" dirty="0"/>
                        <a:t>Broad review — good for context but not focused on integrated personal-health apps (</a:t>
                      </a:r>
                      <a:r>
                        <a:rPr lang="en-US" sz="1400" dirty="0" err="1"/>
                        <a:t>symptom→lifestyle→mental</a:t>
                      </a:r>
                      <a:r>
                        <a:rPr lang="en-US" sz="1400" dirty="0"/>
                        <a:t> health combined). Need applied studies connecting multiple modules</a:t>
                      </a:r>
                      <a:endParaRPr sz="1400" dirty="0">
                        <a:latin typeface="Calibri"/>
                        <a:cs typeface="Times New Roman"/>
                      </a:endParaRPr>
                    </a:p>
                  </a:txBody>
                  <a:tcPr marL="0" marR="0" marT="0" marB="0" anchor="ctr">
                    <a:solidFill>
                      <a:schemeClr val="tx2">
                        <a:lumMod val="40000"/>
                        <a:lumOff val="60000"/>
                      </a:schemeClr>
                    </a:solidFill>
                  </a:tcPr>
                </a:tc>
                <a:extLst>
                  <a:ext uri="{0D108BD9-81ED-4DB2-BD59-A6C34878D82A}">
                    <a16:rowId xmlns:a16="http://schemas.microsoft.com/office/drawing/2014/main" val="717094968"/>
                  </a:ext>
                </a:extLst>
              </a:tr>
              <a:tr h="1909564">
                <a:tc>
                  <a:txBody>
                    <a:bodyPr/>
                    <a:lstStyle/>
                    <a:p>
                      <a:pPr lvl="0" algn="ctr">
                        <a:lnSpc>
                          <a:spcPct val="100000"/>
                        </a:lnSpc>
                        <a:spcBef>
                          <a:spcPts val="455"/>
                        </a:spcBef>
                        <a:buNone/>
                      </a:pPr>
                      <a:r>
                        <a:rPr lang="en-IN" sz="1800" b="0" i="0" u="none" strike="noStrike" spc="-25" noProof="0" dirty="0">
                          <a:solidFill>
                            <a:srgbClr val="000000"/>
                          </a:solidFill>
                          <a:latin typeface="Calibri"/>
                        </a:rPr>
                        <a:t>[2]</a:t>
                      </a:r>
                      <a:endParaRPr lang="en-US" dirty="0"/>
                    </a:p>
                  </a:txBody>
                  <a:tcPr marL="0" marR="0" marT="57785" marB="0" anchor="ctr">
                    <a:solidFill>
                      <a:schemeClr val="tx2">
                        <a:lumMod val="40000"/>
                        <a:lumOff val="60000"/>
                      </a:schemeClr>
                    </a:solidFill>
                  </a:tcPr>
                </a:tc>
                <a:tc>
                  <a:txBody>
                    <a:bodyPr/>
                    <a:lstStyle/>
                    <a:p>
                      <a:pPr lvl="0" algn="l">
                        <a:lnSpc>
                          <a:spcPct val="100000"/>
                        </a:lnSpc>
                        <a:buNone/>
                      </a:pPr>
                      <a:r>
                        <a:rPr lang="en-US" sz="1400" dirty="0"/>
                        <a:t>Machine-Learning-Based Disease Diagnosis: A Comprehensive Review</a:t>
                      </a:r>
                      <a:endParaRPr sz="1400" dirty="0"/>
                    </a:p>
                  </a:txBody>
                  <a:tcPr marL="0" marR="0" marT="0" marB="0" anchor="ctr">
                    <a:solidFill>
                      <a:schemeClr val="tx2">
                        <a:lumMod val="40000"/>
                        <a:lumOff val="60000"/>
                      </a:schemeClr>
                    </a:solidFill>
                  </a:tcPr>
                </a:tc>
                <a:tc>
                  <a:txBody>
                    <a:bodyPr/>
                    <a:lstStyle/>
                    <a:p>
                      <a:pPr lvl="0" algn="l">
                        <a:lnSpc>
                          <a:spcPct val="100000"/>
                        </a:lnSpc>
                        <a:buNone/>
                      </a:pPr>
                      <a:r>
                        <a:rPr lang="en-US" sz="1400" dirty="0"/>
                        <a:t>Survey of ML algorithms (SVM, RF, NN, DL) used in disease diagnosis across domains; discusses challenges (explainability, adversarial attacks).</a:t>
                      </a:r>
                      <a:endParaRPr sz="1400" dirty="0"/>
                    </a:p>
                  </a:txBody>
                  <a:tcPr marL="0" marR="0" marT="0" marB="0" anchor="ctr">
                    <a:solidFill>
                      <a:schemeClr val="tx2">
                        <a:lumMod val="40000"/>
                        <a:lumOff val="60000"/>
                      </a:schemeClr>
                    </a:solidFill>
                  </a:tcPr>
                </a:tc>
                <a:tc>
                  <a:txBody>
                    <a:bodyPr/>
                    <a:lstStyle/>
                    <a:p>
                      <a:pPr algn="l">
                        <a:buNone/>
                      </a:pPr>
                      <a:r>
                        <a:rPr lang="en-US" sz="1400" dirty="0"/>
                        <a:t>ML models often achieve high accuracy for specific tasks (e.g., cardiac, cancer detection) but face generalization and interpretability problems.</a:t>
                      </a:r>
                    </a:p>
                  </a:txBody>
                  <a:tcPr anchor="ctr">
                    <a:solidFill>
                      <a:schemeClr val="tx2">
                        <a:lumMod val="40000"/>
                        <a:lumOff val="60000"/>
                      </a:schemeClr>
                    </a:solidFill>
                  </a:tcPr>
                </a:tc>
                <a:tc>
                  <a:txBody>
                    <a:bodyPr/>
                    <a:lstStyle/>
                    <a:p>
                      <a:pPr lvl="0" algn="l">
                        <a:lnSpc>
                          <a:spcPct val="100000"/>
                        </a:lnSpc>
                        <a:buNone/>
                      </a:pPr>
                      <a:r>
                        <a:rPr lang="en-US" sz="1400" dirty="0"/>
                        <a:t>Most work is disease-specific (single-domain). Lack of multimodal, continuous personal-data pipelines that combine symptoms, wearables, and behavioral signals for ongoing lifestyle recommendations</a:t>
                      </a:r>
                      <a:endParaRPr sz="1400" dirty="0"/>
                    </a:p>
                  </a:txBody>
                  <a:tcPr marL="0" marR="0" marT="0" marB="0" anchor="ctr">
                    <a:solidFill>
                      <a:schemeClr val="tx2">
                        <a:lumMod val="40000"/>
                        <a:lumOff val="60000"/>
                      </a:schemeClr>
                    </a:solidFill>
                  </a:tcPr>
                </a:tc>
                <a:extLst>
                  <a:ext uri="{0D108BD9-81ED-4DB2-BD59-A6C34878D82A}">
                    <a16:rowId xmlns:a16="http://schemas.microsoft.com/office/drawing/2014/main" val="2000909828"/>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a:extLst>
              <a:ext uri="{FF2B5EF4-FFF2-40B4-BE49-F238E27FC236}">
                <a16:creationId xmlns:a16="http://schemas.microsoft.com/office/drawing/2014/main" id="{58396B1B-9C2F-3090-9BF0-58E93DA185EA}"/>
              </a:ext>
            </a:extLst>
          </p:cNvPr>
          <p:cNvPicPr/>
          <p:nvPr/>
        </p:nvPicPr>
        <p:blipFill>
          <a:blip r:embed="rId2" cstate="print"/>
          <a:stretch>
            <a:fillRect/>
          </a:stretch>
        </p:blipFill>
        <p:spPr>
          <a:xfrm>
            <a:off x="1226571" y="151231"/>
            <a:ext cx="6690858" cy="644598"/>
          </a:xfrm>
          <a:prstGeom prst="rect">
            <a:avLst/>
          </a:prstGeom>
        </p:spPr>
      </p:pic>
      <p:graphicFrame>
        <p:nvGraphicFramePr>
          <p:cNvPr id="4" name="Table 3">
            <a:extLst>
              <a:ext uri="{FF2B5EF4-FFF2-40B4-BE49-F238E27FC236}">
                <a16:creationId xmlns:a16="http://schemas.microsoft.com/office/drawing/2014/main" id="{6BFE27B8-8B79-2280-76BB-CD172CF9C1A7}"/>
              </a:ext>
            </a:extLst>
          </p:cNvPr>
          <p:cNvGraphicFramePr>
            <a:graphicFrameLocks noGrp="1"/>
          </p:cNvGraphicFramePr>
          <p:nvPr>
            <p:extLst>
              <p:ext uri="{D42A27DB-BD31-4B8C-83A1-F6EECF244321}">
                <p14:modId xmlns:p14="http://schemas.microsoft.com/office/powerpoint/2010/main" val="1825716832"/>
              </p:ext>
            </p:extLst>
          </p:nvPr>
        </p:nvGraphicFramePr>
        <p:xfrm>
          <a:off x="344577" y="1219200"/>
          <a:ext cx="8454846" cy="5331460"/>
        </p:xfrm>
        <a:graphic>
          <a:graphicData uri="http://schemas.openxmlformats.org/drawingml/2006/table">
            <a:tbl>
              <a:tblPr firstRow="1" bandRow="1">
                <a:tableStyleId>{3C2FFA5D-87B4-456A-9821-1D502468CF0F}</a:tableStyleId>
              </a:tblPr>
              <a:tblGrid>
                <a:gridCol w="880418">
                  <a:extLst>
                    <a:ext uri="{9D8B030D-6E8A-4147-A177-3AD203B41FA5}">
                      <a16:colId xmlns:a16="http://schemas.microsoft.com/office/drawing/2014/main" val="3073130615"/>
                    </a:ext>
                  </a:extLst>
                </a:gridCol>
                <a:gridCol w="2007973">
                  <a:extLst>
                    <a:ext uri="{9D8B030D-6E8A-4147-A177-3AD203B41FA5}">
                      <a16:colId xmlns:a16="http://schemas.microsoft.com/office/drawing/2014/main" val="3448397776"/>
                    </a:ext>
                  </a:extLst>
                </a:gridCol>
                <a:gridCol w="1884915">
                  <a:extLst>
                    <a:ext uri="{9D8B030D-6E8A-4147-A177-3AD203B41FA5}">
                      <a16:colId xmlns:a16="http://schemas.microsoft.com/office/drawing/2014/main" val="1952688748"/>
                    </a:ext>
                  </a:extLst>
                </a:gridCol>
                <a:gridCol w="1840770">
                  <a:extLst>
                    <a:ext uri="{9D8B030D-6E8A-4147-A177-3AD203B41FA5}">
                      <a16:colId xmlns:a16="http://schemas.microsoft.com/office/drawing/2014/main" val="253850063"/>
                    </a:ext>
                  </a:extLst>
                </a:gridCol>
                <a:gridCol w="1840770">
                  <a:extLst>
                    <a:ext uri="{9D8B030D-6E8A-4147-A177-3AD203B41FA5}">
                      <a16:colId xmlns:a16="http://schemas.microsoft.com/office/drawing/2014/main" val="1616220351"/>
                    </a:ext>
                  </a:extLst>
                </a:gridCol>
              </a:tblGrid>
              <a:tr h="850900">
                <a:tc>
                  <a:txBody>
                    <a:bodyPr/>
                    <a:lstStyle/>
                    <a:p>
                      <a:pPr lvl="0" algn="ctr">
                        <a:lnSpc>
                          <a:spcPct val="100000"/>
                        </a:lnSpc>
                        <a:spcBef>
                          <a:spcPts val="484"/>
                        </a:spcBef>
                      </a:pPr>
                      <a:r>
                        <a:rPr lang="en-IN" sz="1100" b="1" dirty="0">
                          <a:solidFill>
                            <a:schemeClr val="lt1"/>
                          </a:solidFill>
                          <a:latin typeface="Times New Roman"/>
                          <a:ea typeface="+mn-ea"/>
                          <a:cs typeface="Times New Roman"/>
                        </a:rPr>
                        <a:t>SR. NO.</a:t>
                      </a:r>
                      <a:endParaRPr lang="en-US" sz="1100" b="1" dirty="0">
                        <a:solidFill>
                          <a:schemeClr val="lt1"/>
                        </a:solidFill>
                        <a:latin typeface="Times New Roman"/>
                        <a:ea typeface="+mn-ea"/>
                        <a:cs typeface="Times New Roman"/>
                      </a:endParaRPr>
                    </a:p>
                  </a:txBody>
                  <a:tcPr marL="0" marR="0" marT="61594" marB="0" anchor="ctr"/>
                </a:tc>
                <a:tc>
                  <a:txBody>
                    <a:bodyPr/>
                    <a:lstStyle/>
                    <a:p>
                      <a:pPr lvl="0" algn="ctr">
                        <a:lnSpc>
                          <a:spcPct val="100000"/>
                        </a:lnSpc>
                      </a:pPr>
                      <a:r>
                        <a:rPr lang="en-IN" sz="1100" dirty="0">
                          <a:latin typeface="Times New Roman"/>
                          <a:cs typeface="Times New Roman"/>
                        </a:rPr>
                        <a:t>          PAPER DETAIL</a:t>
                      </a:r>
                    </a:p>
                  </a:txBody>
                  <a:tcPr marL="0" marR="0" marT="0" marB="0" anchor="ctr"/>
                </a:tc>
                <a:tc>
                  <a:txBody>
                    <a:bodyPr/>
                    <a:lstStyle/>
                    <a:p>
                      <a:pPr marL="457200" lvl="1" indent="0" algn="ctr">
                        <a:lnSpc>
                          <a:spcPct val="100000"/>
                        </a:lnSpc>
                        <a:buFont typeface="Arial" panose="020B0604020202020204" pitchFamily="34" charset="0"/>
                        <a:buNone/>
                      </a:pPr>
                      <a:r>
                        <a:rPr lang="en-IN" sz="1100" dirty="0">
                          <a:latin typeface="Times New Roman"/>
                          <a:cs typeface="Times New Roman"/>
                        </a:rPr>
                        <a:t>METHOD</a:t>
                      </a:r>
                      <a:endParaRPr lang="en-US" sz="1100" dirty="0">
                        <a:latin typeface="Times New Roman"/>
                        <a:cs typeface="Times New Roman"/>
                      </a:endParaRPr>
                    </a:p>
                  </a:txBody>
                  <a:tcPr marL="0" marR="0" marT="0" marB="0" anchor="ctr"/>
                </a:tc>
                <a:tc>
                  <a:txBody>
                    <a:bodyPr/>
                    <a:lstStyle/>
                    <a:p>
                      <a:pPr lvl="1" algn="ctr">
                        <a:lnSpc>
                          <a:spcPct val="100000"/>
                        </a:lnSpc>
                      </a:pPr>
                      <a:r>
                        <a:rPr lang="en-IN" sz="1100" dirty="0">
                          <a:latin typeface="Times New Roman"/>
                          <a:cs typeface="Times New Roman"/>
                        </a:rPr>
                        <a:t>RESULT</a:t>
                      </a:r>
                      <a:endParaRPr lang="en-US" sz="1100" dirty="0">
                        <a:latin typeface="Times New Roman"/>
                        <a:cs typeface="Times New Roman"/>
                      </a:endParaRPr>
                    </a:p>
                  </a:txBody>
                  <a:tcPr marL="0" marR="0" marT="0" marB="0" anchor="ctr"/>
                </a:tc>
                <a:tc>
                  <a:txBody>
                    <a:bodyPr/>
                    <a:lstStyle/>
                    <a:p>
                      <a:pPr lvl="1" algn="ctr">
                        <a:lnSpc>
                          <a:spcPct val="100000"/>
                        </a:lnSpc>
                      </a:pPr>
                      <a:r>
                        <a:rPr lang="en-IN" sz="1100" dirty="0">
                          <a:latin typeface="Times New Roman"/>
                          <a:cs typeface="Times New Roman"/>
                        </a:rPr>
                        <a:t>SCOPE/GAP</a:t>
                      </a:r>
                    </a:p>
                    <a:p>
                      <a:pPr lvl="2" algn="ctr">
                        <a:lnSpc>
                          <a:spcPct val="100000"/>
                        </a:lnSpc>
                      </a:pPr>
                      <a:endParaRPr lang="en-US" sz="1100" dirty="0">
                        <a:latin typeface="Times New Roman"/>
                        <a:cs typeface="Times New Roman"/>
                      </a:endParaRPr>
                    </a:p>
                  </a:txBody>
                  <a:tcPr marL="0" marR="0" marT="0" marB="0" anchor="ctr"/>
                </a:tc>
                <a:extLst>
                  <a:ext uri="{0D108BD9-81ED-4DB2-BD59-A6C34878D82A}">
                    <a16:rowId xmlns:a16="http://schemas.microsoft.com/office/drawing/2014/main" val="198388268"/>
                  </a:ext>
                </a:extLst>
              </a:tr>
              <a:tr h="1676811">
                <a:tc>
                  <a:txBody>
                    <a:bodyPr/>
                    <a:lstStyle/>
                    <a:p>
                      <a:pPr algn="ctr">
                        <a:lnSpc>
                          <a:spcPct val="100000"/>
                        </a:lnSpc>
                        <a:spcBef>
                          <a:spcPts val="484"/>
                        </a:spcBef>
                      </a:pPr>
                      <a:r>
                        <a:rPr lang="en-IN" sz="1800" dirty="0">
                          <a:latin typeface="Trebuchet MS"/>
                          <a:cs typeface="Trebuchet MS"/>
                        </a:rPr>
                        <a:t>[3]</a:t>
                      </a:r>
                    </a:p>
                    <a:p>
                      <a:pPr algn="ctr">
                        <a:lnSpc>
                          <a:spcPct val="100000"/>
                        </a:lnSpc>
                        <a:spcBef>
                          <a:spcPts val="484"/>
                        </a:spcBef>
                      </a:pPr>
                      <a:endParaRPr lang="en-US" sz="1800" dirty="0">
                        <a:latin typeface="Trebuchet MS"/>
                        <a:cs typeface="Trebuchet MS"/>
                      </a:endParaRPr>
                    </a:p>
                  </a:txBody>
                  <a:tcPr marL="0" marR="0" marT="61594" marB="0" anchor="ctr">
                    <a:solidFill>
                      <a:schemeClr val="tx2">
                        <a:lumMod val="40000"/>
                        <a:lumOff val="60000"/>
                      </a:schemeClr>
                    </a:solidFill>
                  </a:tcPr>
                </a:tc>
                <a:tc>
                  <a:txBody>
                    <a:bodyPr/>
                    <a:lstStyle/>
                    <a:p>
                      <a:pPr lvl="0" algn="l">
                        <a:lnSpc>
                          <a:spcPct val="100000"/>
                        </a:lnSpc>
                        <a:buNone/>
                      </a:pPr>
                      <a:r>
                        <a:rPr lang="en-US" sz="1400" b="0" dirty="0"/>
                        <a:t>Symptom-Based Disease Prediction Using Machine Learning </a:t>
                      </a:r>
                      <a:r>
                        <a:rPr lang="en-US" sz="1400" dirty="0"/>
                        <a:t>(web / conference/paper — applied study using RFC, MLP, SVM). </a:t>
                      </a:r>
                    </a:p>
                  </a:txBody>
                  <a:tcPr marL="0" marR="0" marT="0" marB="0" anchor="ctr">
                    <a:solidFill>
                      <a:schemeClr val="tx2">
                        <a:lumMod val="40000"/>
                        <a:lumOff val="60000"/>
                      </a:schemeClr>
                    </a:solidFill>
                  </a:tcPr>
                </a:tc>
                <a:tc>
                  <a:txBody>
                    <a:bodyPr/>
                    <a:lstStyle/>
                    <a:p>
                      <a:pPr lvl="0" algn="l">
                        <a:lnSpc>
                          <a:spcPct val="100000"/>
                        </a:lnSpc>
                        <a:buNone/>
                      </a:pPr>
                      <a:r>
                        <a:rPr lang="en-US" sz="1400" dirty="0"/>
                        <a:t>Uses symptom questionnaires + classical ML models (Random Forest, SVM, MLP); builds a web application for symptom input → disease prediction</a:t>
                      </a:r>
                    </a:p>
                  </a:txBody>
                  <a:tcPr marL="0" marR="0" marT="0" marB="0" anchor="ctr">
                    <a:solidFill>
                      <a:schemeClr val="tx2">
                        <a:lumMod val="40000"/>
                        <a:lumOff val="60000"/>
                      </a:schemeClr>
                    </a:solidFill>
                  </a:tcPr>
                </a:tc>
                <a:tc>
                  <a:txBody>
                    <a:bodyPr/>
                    <a:lstStyle/>
                    <a:p>
                      <a:pPr lvl="0" algn="l">
                        <a:lnSpc>
                          <a:spcPct val="100000"/>
                        </a:lnSpc>
                        <a:buNone/>
                      </a:pPr>
                      <a:r>
                        <a:rPr lang="en-US" sz="1400" dirty="0"/>
                        <a:t>Reports high accuracy (&gt;85–90%) on curated datasets; demonstrates feasibility of live symptom-based prediction</a:t>
                      </a:r>
                    </a:p>
                  </a:txBody>
                  <a:tcPr marL="0" marR="0" marT="0" marB="0" anchor="ctr">
                    <a:solidFill>
                      <a:schemeClr val="tx2">
                        <a:lumMod val="40000"/>
                        <a:lumOff val="60000"/>
                      </a:schemeClr>
                    </a:solidFill>
                  </a:tcPr>
                </a:tc>
                <a:tc>
                  <a:txBody>
                    <a:bodyPr/>
                    <a:lstStyle/>
                    <a:p>
                      <a:pPr lvl="0" algn="l">
                        <a:lnSpc>
                          <a:spcPct val="100000"/>
                        </a:lnSpc>
                        <a:buNone/>
                      </a:pPr>
                      <a:r>
                        <a:rPr lang="en-US" sz="1400" dirty="0"/>
                        <a:t>Often trained on limited or imbalanced datasets; models may overfit to dataset-specific symptom </a:t>
                      </a:r>
                      <a:r>
                        <a:rPr lang="en-US" sz="1400" dirty="0" err="1"/>
                        <a:t>codings</a:t>
                      </a:r>
                      <a:r>
                        <a:rPr lang="en-US" sz="1400" dirty="0"/>
                        <a:t>. Few studies integrate downstream lifestyle suggestions or follow-up triage (doctor referral + behavior plan)</a:t>
                      </a:r>
                    </a:p>
                  </a:txBody>
                  <a:tcPr marL="0" marR="0" marT="0" marB="0" anchor="ctr">
                    <a:solidFill>
                      <a:schemeClr val="tx2">
                        <a:lumMod val="40000"/>
                        <a:lumOff val="60000"/>
                      </a:schemeClr>
                    </a:solidFill>
                  </a:tcPr>
                </a:tc>
                <a:extLst>
                  <a:ext uri="{0D108BD9-81ED-4DB2-BD59-A6C34878D82A}">
                    <a16:rowId xmlns:a16="http://schemas.microsoft.com/office/drawing/2014/main" val="3390342026"/>
                  </a:ext>
                </a:extLst>
              </a:tr>
              <a:tr h="1676811">
                <a:tc>
                  <a:txBody>
                    <a:bodyPr/>
                    <a:lstStyle/>
                    <a:p>
                      <a:pPr lvl="0" algn="ctr">
                        <a:lnSpc>
                          <a:spcPct val="100000"/>
                        </a:lnSpc>
                        <a:spcBef>
                          <a:spcPts val="0"/>
                        </a:spcBef>
                        <a:spcAft>
                          <a:spcPts val="0"/>
                        </a:spcAft>
                        <a:buNone/>
                      </a:pPr>
                      <a:r>
                        <a:rPr lang="en-IN" sz="1800" b="0" i="0" u="none" strike="noStrike" noProof="0" dirty="0">
                          <a:solidFill>
                            <a:srgbClr val="000000"/>
                          </a:solidFill>
                          <a:latin typeface="Trebuchet MS"/>
                        </a:rPr>
                        <a:t>[4]</a:t>
                      </a:r>
                      <a:endParaRPr lang="en-US" sz="1800" b="0" i="0" u="none" strike="noStrike" noProof="0" dirty="0">
                        <a:solidFill>
                          <a:srgbClr val="000000"/>
                        </a:solidFill>
                        <a:latin typeface="Trebuchet MS"/>
                      </a:endParaRPr>
                    </a:p>
                    <a:p>
                      <a:pPr lvl="0" algn="ctr">
                        <a:lnSpc>
                          <a:spcPct val="100000"/>
                        </a:lnSpc>
                        <a:spcBef>
                          <a:spcPts val="484"/>
                        </a:spcBef>
                        <a:buNone/>
                      </a:pPr>
                      <a:endParaRPr lang="en-US" sz="1800" dirty="0">
                        <a:latin typeface="Trebuchet MS"/>
                        <a:cs typeface="Trebuchet MS"/>
                      </a:endParaRPr>
                    </a:p>
                  </a:txBody>
                  <a:tcPr marL="0" marR="0" marT="61594" marB="0" anchor="ctr">
                    <a:solidFill>
                      <a:schemeClr val="tx2">
                        <a:lumMod val="40000"/>
                        <a:lumOff val="60000"/>
                      </a:schemeClr>
                    </a:solidFill>
                  </a:tcPr>
                </a:tc>
                <a:tc>
                  <a:txBody>
                    <a:bodyPr/>
                    <a:lstStyle/>
                    <a:p>
                      <a:pPr lvl="0" algn="l">
                        <a:lnSpc>
                          <a:spcPct val="100000"/>
                        </a:lnSpc>
                        <a:buNone/>
                      </a:pPr>
                      <a:r>
                        <a:rPr lang="en-US" sz="1400" b="0" dirty="0"/>
                        <a:t>Evaluating a Digital Mental Health Intervention (</a:t>
                      </a:r>
                      <a:r>
                        <a:rPr lang="en-US" sz="1400" b="0" dirty="0" err="1"/>
                        <a:t>Wysa</a:t>
                      </a:r>
                      <a:r>
                        <a:rPr lang="en-US" sz="1400" b="0" dirty="0"/>
                        <a:t>) </a:t>
                      </a:r>
                      <a:r>
                        <a:rPr lang="en-US" sz="1400" dirty="0"/>
                        <a:t>— feasibility / acceptability study</a:t>
                      </a:r>
                    </a:p>
                  </a:txBody>
                  <a:tcPr marL="0" marR="0" marT="0" marB="0" anchor="ctr">
                    <a:solidFill>
                      <a:schemeClr val="tx2">
                        <a:lumMod val="40000"/>
                        <a:lumOff val="60000"/>
                      </a:schemeClr>
                    </a:solidFill>
                  </a:tcPr>
                </a:tc>
                <a:tc>
                  <a:txBody>
                    <a:bodyPr/>
                    <a:lstStyle/>
                    <a:p>
                      <a:pPr lvl="0" algn="l">
                        <a:lnSpc>
                          <a:spcPct val="100000"/>
                        </a:lnSpc>
                        <a:buNone/>
                      </a:pPr>
                      <a:r>
                        <a:rPr lang="en-US" sz="1400" dirty="0"/>
                        <a:t>Feasibility/observational studies of AI-led chatbot (</a:t>
                      </a:r>
                      <a:r>
                        <a:rPr lang="en-US" sz="1400" dirty="0" err="1"/>
                        <a:t>Wysa</a:t>
                      </a:r>
                      <a:r>
                        <a:rPr lang="en-US" sz="1400" dirty="0"/>
                        <a:t>) measuring engagement, retention, self-reported outcomes.</a:t>
                      </a:r>
                    </a:p>
                  </a:txBody>
                  <a:tcPr marL="0" marR="0" marT="0" marB="0" anchor="ctr">
                    <a:solidFill>
                      <a:schemeClr val="tx2">
                        <a:lumMod val="40000"/>
                        <a:lumOff val="60000"/>
                      </a:schemeClr>
                    </a:solidFill>
                  </a:tcPr>
                </a:tc>
                <a:tc>
                  <a:txBody>
                    <a:bodyPr/>
                    <a:lstStyle/>
                    <a:p>
                      <a:pPr lvl="0" algn="l">
                        <a:lnSpc>
                          <a:spcPct val="100000"/>
                        </a:lnSpc>
                        <a:buNone/>
                      </a:pPr>
                      <a:r>
                        <a:rPr lang="en-US" sz="1400" dirty="0"/>
                        <a:t>Finds good user engagement and acceptability; can provide scalable psychosocial support and symptom screening.</a:t>
                      </a:r>
                    </a:p>
                  </a:txBody>
                  <a:tcPr marL="0" marR="0" marT="0" marB="0" anchor="ctr">
                    <a:solidFill>
                      <a:schemeClr val="tx2">
                        <a:lumMod val="40000"/>
                        <a:lumOff val="60000"/>
                      </a:schemeClr>
                    </a:solidFill>
                  </a:tcPr>
                </a:tc>
                <a:tc>
                  <a:txBody>
                    <a:bodyPr/>
                    <a:lstStyle/>
                    <a:p>
                      <a:pPr lvl="0" algn="l">
                        <a:lnSpc>
                          <a:spcPct val="100000"/>
                        </a:lnSpc>
                        <a:buNone/>
                      </a:pPr>
                      <a:r>
                        <a:rPr lang="en-US" sz="1400" dirty="0"/>
                        <a:t>Chatbots are useful for support but are not clinical diagnosis tools; safety, response quality in crisis situations and long-term efficacy need more RCTs and safety controls. Integration with other health modules (sleep, disease prediction) is limited</a:t>
                      </a:r>
                    </a:p>
                  </a:txBody>
                  <a:tcPr marL="0" marR="0" marT="0" marB="0" anchor="ctr">
                    <a:solidFill>
                      <a:schemeClr val="tx2">
                        <a:lumMod val="40000"/>
                        <a:lumOff val="60000"/>
                      </a:schemeClr>
                    </a:solidFill>
                  </a:tcPr>
                </a:tc>
                <a:extLst>
                  <a:ext uri="{0D108BD9-81ED-4DB2-BD59-A6C34878D82A}">
                    <a16:rowId xmlns:a16="http://schemas.microsoft.com/office/drawing/2014/main" val="2670340876"/>
                  </a:ext>
                </a:extLst>
              </a:tr>
            </a:tbl>
          </a:graphicData>
        </a:graphic>
      </p:graphicFrame>
    </p:spTree>
    <p:extLst>
      <p:ext uri="{BB962C8B-B14F-4D97-AF65-F5344CB8AC3E}">
        <p14:creationId xmlns:p14="http://schemas.microsoft.com/office/powerpoint/2010/main" val="3073194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a:extLst>
              <a:ext uri="{FF2B5EF4-FFF2-40B4-BE49-F238E27FC236}">
                <a16:creationId xmlns:a16="http://schemas.microsoft.com/office/drawing/2014/main" id="{523019EA-30A7-D6EE-E172-E462010E570E}"/>
              </a:ext>
            </a:extLst>
          </p:cNvPr>
          <p:cNvPicPr/>
          <p:nvPr/>
        </p:nvPicPr>
        <p:blipFill>
          <a:blip r:embed="rId2" cstate="print"/>
          <a:stretch>
            <a:fillRect/>
          </a:stretch>
        </p:blipFill>
        <p:spPr>
          <a:xfrm>
            <a:off x="1136320" y="151231"/>
            <a:ext cx="6690858" cy="644598"/>
          </a:xfrm>
          <a:prstGeom prst="rect">
            <a:avLst/>
          </a:prstGeom>
        </p:spPr>
      </p:pic>
      <p:graphicFrame>
        <p:nvGraphicFramePr>
          <p:cNvPr id="4" name="Table 3">
            <a:extLst>
              <a:ext uri="{FF2B5EF4-FFF2-40B4-BE49-F238E27FC236}">
                <a16:creationId xmlns:a16="http://schemas.microsoft.com/office/drawing/2014/main" id="{AD79FEB4-C0F5-8DEE-6612-A9C0F6C7C2FC}"/>
              </a:ext>
            </a:extLst>
          </p:cNvPr>
          <p:cNvGraphicFramePr>
            <a:graphicFrameLocks noGrp="1"/>
          </p:cNvGraphicFramePr>
          <p:nvPr>
            <p:extLst>
              <p:ext uri="{D42A27DB-BD31-4B8C-83A1-F6EECF244321}">
                <p14:modId xmlns:p14="http://schemas.microsoft.com/office/powerpoint/2010/main" val="2740121502"/>
              </p:ext>
            </p:extLst>
          </p:nvPr>
        </p:nvGraphicFramePr>
        <p:xfrm>
          <a:off x="381000" y="1371600"/>
          <a:ext cx="8530538" cy="4849883"/>
        </p:xfrm>
        <a:graphic>
          <a:graphicData uri="http://schemas.openxmlformats.org/drawingml/2006/table">
            <a:tbl>
              <a:tblPr firstRow="1" bandRow="1">
                <a:tableStyleId>{3C2FFA5D-87B4-456A-9821-1D502468CF0F}</a:tableStyleId>
              </a:tblPr>
              <a:tblGrid>
                <a:gridCol w="825963">
                  <a:extLst>
                    <a:ext uri="{9D8B030D-6E8A-4147-A177-3AD203B41FA5}">
                      <a16:colId xmlns:a16="http://schemas.microsoft.com/office/drawing/2014/main" val="440915339"/>
                    </a:ext>
                  </a:extLst>
                </a:gridCol>
                <a:gridCol w="2025950">
                  <a:extLst>
                    <a:ext uri="{9D8B030D-6E8A-4147-A177-3AD203B41FA5}">
                      <a16:colId xmlns:a16="http://schemas.microsoft.com/office/drawing/2014/main" val="3147113742"/>
                    </a:ext>
                  </a:extLst>
                </a:gridCol>
                <a:gridCol w="1964125">
                  <a:extLst>
                    <a:ext uri="{9D8B030D-6E8A-4147-A177-3AD203B41FA5}">
                      <a16:colId xmlns:a16="http://schemas.microsoft.com/office/drawing/2014/main" val="184182386"/>
                    </a:ext>
                  </a:extLst>
                </a:gridCol>
                <a:gridCol w="1857250">
                  <a:extLst>
                    <a:ext uri="{9D8B030D-6E8A-4147-A177-3AD203B41FA5}">
                      <a16:colId xmlns:a16="http://schemas.microsoft.com/office/drawing/2014/main" val="2069922793"/>
                    </a:ext>
                  </a:extLst>
                </a:gridCol>
                <a:gridCol w="1857250">
                  <a:extLst>
                    <a:ext uri="{9D8B030D-6E8A-4147-A177-3AD203B41FA5}">
                      <a16:colId xmlns:a16="http://schemas.microsoft.com/office/drawing/2014/main" val="523317479"/>
                    </a:ext>
                  </a:extLst>
                </a:gridCol>
              </a:tblGrid>
              <a:tr h="369323">
                <a:tc>
                  <a:txBody>
                    <a:bodyPr/>
                    <a:lstStyle/>
                    <a:p>
                      <a:pPr lvl="0" algn="ctr">
                        <a:lnSpc>
                          <a:spcPct val="100000"/>
                        </a:lnSpc>
                        <a:spcBef>
                          <a:spcPts val="484"/>
                        </a:spcBef>
                      </a:pPr>
                      <a:r>
                        <a:rPr lang="en-IN" sz="1100" b="1" dirty="0">
                          <a:solidFill>
                            <a:schemeClr val="lt1"/>
                          </a:solidFill>
                          <a:latin typeface="Times New Roman"/>
                          <a:ea typeface="+mn-ea"/>
                          <a:cs typeface="Times New Roman"/>
                        </a:rPr>
                        <a:t>SR. NO.</a:t>
                      </a:r>
                      <a:endParaRPr lang="en-US" sz="1100" b="1" dirty="0">
                        <a:solidFill>
                          <a:schemeClr val="lt1"/>
                        </a:solidFill>
                        <a:latin typeface="Times New Roman"/>
                        <a:ea typeface="+mn-ea"/>
                        <a:cs typeface="Times New Roman"/>
                      </a:endParaRPr>
                    </a:p>
                  </a:txBody>
                  <a:tcPr marL="0" marR="0" marT="61594" marB="0" anchor="ctr"/>
                </a:tc>
                <a:tc>
                  <a:txBody>
                    <a:bodyPr/>
                    <a:lstStyle/>
                    <a:p>
                      <a:pPr lvl="0" algn="ctr">
                        <a:lnSpc>
                          <a:spcPct val="100000"/>
                        </a:lnSpc>
                      </a:pPr>
                      <a:r>
                        <a:rPr lang="en-IN" sz="1100" dirty="0">
                          <a:latin typeface="Times New Roman"/>
                          <a:cs typeface="Times New Roman"/>
                        </a:rPr>
                        <a:t>          PAPER DETAIL</a:t>
                      </a:r>
                    </a:p>
                  </a:txBody>
                  <a:tcPr marL="0" marR="0" marT="0" marB="0" anchor="ctr"/>
                </a:tc>
                <a:tc>
                  <a:txBody>
                    <a:bodyPr/>
                    <a:lstStyle/>
                    <a:p>
                      <a:pPr marL="457200" lvl="1" indent="0" algn="ctr">
                        <a:lnSpc>
                          <a:spcPct val="100000"/>
                        </a:lnSpc>
                        <a:buFont typeface="Arial" panose="020B0604020202020204" pitchFamily="34" charset="0"/>
                        <a:buNone/>
                      </a:pPr>
                      <a:r>
                        <a:rPr lang="en-IN" sz="1100" dirty="0">
                          <a:latin typeface="Times New Roman"/>
                          <a:cs typeface="Times New Roman"/>
                        </a:rPr>
                        <a:t>METHOD</a:t>
                      </a:r>
                      <a:endParaRPr lang="en-US" sz="1100" dirty="0">
                        <a:latin typeface="Times New Roman"/>
                        <a:cs typeface="Times New Roman"/>
                      </a:endParaRPr>
                    </a:p>
                  </a:txBody>
                  <a:tcPr marL="0" marR="0" marT="0" marB="0" anchor="ctr"/>
                </a:tc>
                <a:tc>
                  <a:txBody>
                    <a:bodyPr/>
                    <a:lstStyle/>
                    <a:p>
                      <a:pPr lvl="1" algn="ctr">
                        <a:lnSpc>
                          <a:spcPct val="100000"/>
                        </a:lnSpc>
                      </a:pPr>
                      <a:r>
                        <a:rPr lang="en-IN" sz="1100" dirty="0">
                          <a:latin typeface="Times New Roman"/>
                          <a:cs typeface="Times New Roman"/>
                        </a:rPr>
                        <a:t>RESULT</a:t>
                      </a:r>
                      <a:endParaRPr lang="en-US" sz="1100" dirty="0">
                        <a:latin typeface="Times New Roman"/>
                        <a:cs typeface="Times New Roman"/>
                      </a:endParaRPr>
                    </a:p>
                  </a:txBody>
                  <a:tcPr marL="0" marR="0" marT="0" marB="0" anchor="ctr"/>
                </a:tc>
                <a:tc>
                  <a:txBody>
                    <a:bodyPr/>
                    <a:lstStyle/>
                    <a:p>
                      <a:pPr lvl="1" algn="ctr">
                        <a:lnSpc>
                          <a:spcPct val="100000"/>
                        </a:lnSpc>
                      </a:pPr>
                      <a:r>
                        <a:rPr lang="en-IN" sz="1100" dirty="0">
                          <a:latin typeface="Times New Roman"/>
                          <a:cs typeface="Times New Roman"/>
                        </a:rPr>
                        <a:t>SCOPE/GAP</a:t>
                      </a:r>
                    </a:p>
                    <a:p>
                      <a:pPr lvl="2" algn="ctr">
                        <a:lnSpc>
                          <a:spcPct val="100000"/>
                        </a:lnSpc>
                      </a:pPr>
                      <a:endParaRPr lang="en-US" sz="1100" dirty="0">
                        <a:latin typeface="Times New Roman"/>
                        <a:cs typeface="Times New Roman"/>
                      </a:endParaRPr>
                    </a:p>
                  </a:txBody>
                  <a:tcPr marL="0" marR="0" marT="0" marB="0" anchor="ctr"/>
                </a:tc>
                <a:extLst>
                  <a:ext uri="{0D108BD9-81ED-4DB2-BD59-A6C34878D82A}">
                    <a16:rowId xmlns:a16="http://schemas.microsoft.com/office/drawing/2014/main" val="3658351057"/>
                  </a:ext>
                </a:extLst>
              </a:tr>
              <a:tr h="1605142">
                <a:tc>
                  <a:txBody>
                    <a:bodyPr/>
                    <a:lstStyle/>
                    <a:p>
                      <a:pPr algn="ctr">
                        <a:lnSpc>
                          <a:spcPct val="100000"/>
                        </a:lnSpc>
                        <a:spcBef>
                          <a:spcPts val="484"/>
                        </a:spcBef>
                      </a:pPr>
                      <a:r>
                        <a:rPr lang="en-IN" sz="1800" dirty="0">
                          <a:latin typeface="Trebuchet MS"/>
                          <a:cs typeface="Trebuchet MS"/>
                        </a:rPr>
                        <a:t>[5]</a:t>
                      </a:r>
                    </a:p>
                    <a:p>
                      <a:pPr algn="ctr">
                        <a:lnSpc>
                          <a:spcPct val="100000"/>
                        </a:lnSpc>
                        <a:spcBef>
                          <a:spcPts val="484"/>
                        </a:spcBef>
                      </a:pPr>
                      <a:endParaRPr lang="en-US" sz="1800" dirty="0">
                        <a:latin typeface="Trebuchet MS"/>
                        <a:cs typeface="Trebuchet MS"/>
                      </a:endParaRPr>
                    </a:p>
                  </a:txBody>
                  <a:tcPr marL="0" marR="0" marT="61594" marB="0" anchor="ctr">
                    <a:solidFill>
                      <a:schemeClr val="tx2">
                        <a:lumMod val="40000"/>
                        <a:lumOff val="60000"/>
                      </a:schemeClr>
                    </a:solidFill>
                  </a:tcPr>
                </a:tc>
                <a:tc>
                  <a:txBody>
                    <a:bodyPr/>
                    <a:lstStyle/>
                    <a:p>
                      <a:pPr lvl="0" algn="l">
                        <a:lnSpc>
                          <a:spcPct val="100000"/>
                        </a:lnSpc>
                        <a:buNone/>
                      </a:pPr>
                      <a:r>
                        <a:rPr lang="en-US" sz="1400" dirty="0"/>
                        <a:t>Multi-Method Machine Learning Analysis of Sleep Disturbances</a:t>
                      </a:r>
                    </a:p>
                  </a:txBody>
                  <a:tcPr marL="0" marR="0" marT="0" marB="0" anchor="ctr">
                    <a:solidFill>
                      <a:schemeClr val="tx2">
                        <a:lumMod val="40000"/>
                        <a:lumOff val="60000"/>
                      </a:schemeClr>
                    </a:solidFill>
                  </a:tcPr>
                </a:tc>
                <a:tc>
                  <a:txBody>
                    <a:bodyPr/>
                    <a:lstStyle/>
                    <a:p>
                      <a:pPr lvl="0" algn="l">
                        <a:lnSpc>
                          <a:spcPct val="100000"/>
                        </a:lnSpc>
                        <a:buNone/>
                      </a:pPr>
                      <a:r>
                        <a:rPr lang="en-US" sz="1400" dirty="0"/>
                        <a:t>Applies multiple ML algorithms to sleep survey / sensor data to predict sleep disturbance causes and classify patterns.</a:t>
                      </a:r>
                    </a:p>
                  </a:txBody>
                  <a:tcPr marL="0" marR="0" marT="0" marB="0" anchor="ctr">
                    <a:solidFill>
                      <a:schemeClr val="tx2">
                        <a:lumMod val="40000"/>
                        <a:lumOff val="60000"/>
                      </a:schemeClr>
                    </a:solidFill>
                  </a:tcPr>
                </a:tc>
                <a:tc>
                  <a:txBody>
                    <a:bodyPr/>
                    <a:lstStyle/>
                    <a:p>
                      <a:pPr lvl="0" algn="l">
                        <a:lnSpc>
                          <a:spcPct val="100000"/>
                        </a:lnSpc>
                        <a:buNone/>
                      </a:pPr>
                      <a:r>
                        <a:rPr lang="en-US" sz="1400" dirty="0"/>
                        <a:t>ML shows promise in identifying patterns and predictors of poor sleep; can inform personalized sleep recommendations</a:t>
                      </a:r>
                    </a:p>
                  </a:txBody>
                  <a:tcPr marL="0" marR="0" marT="0" marB="0" anchor="ctr">
                    <a:solidFill>
                      <a:schemeClr val="tx2">
                        <a:lumMod val="40000"/>
                        <a:lumOff val="60000"/>
                      </a:schemeClr>
                    </a:solidFill>
                  </a:tcPr>
                </a:tc>
                <a:tc>
                  <a:txBody>
                    <a:bodyPr/>
                    <a:lstStyle/>
                    <a:p>
                      <a:pPr lvl="0" algn="l">
                        <a:lnSpc>
                          <a:spcPct val="100000"/>
                        </a:lnSpc>
                        <a:buNone/>
                      </a:pPr>
                      <a:r>
                        <a:rPr lang="en-US" sz="1400" dirty="0"/>
                        <a:t>Many studies rely on small or non-representative datasets (self-reports or single-device). Few combine sleep ML outputs with diet/activity/mental-health modules for end-to-end lifestyle interventions. </a:t>
                      </a:r>
                    </a:p>
                  </a:txBody>
                  <a:tcPr marL="0" marR="0" marT="0" marB="0" anchor="ctr">
                    <a:solidFill>
                      <a:schemeClr val="tx2">
                        <a:lumMod val="40000"/>
                        <a:lumOff val="60000"/>
                      </a:schemeClr>
                    </a:solidFill>
                  </a:tcPr>
                </a:tc>
                <a:extLst>
                  <a:ext uri="{0D108BD9-81ED-4DB2-BD59-A6C34878D82A}">
                    <a16:rowId xmlns:a16="http://schemas.microsoft.com/office/drawing/2014/main" val="2823133509"/>
                  </a:ext>
                </a:extLst>
              </a:tr>
              <a:tr h="1588689">
                <a:tc>
                  <a:txBody>
                    <a:bodyPr/>
                    <a:lstStyle/>
                    <a:p>
                      <a:pPr lvl="0" algn="ctr">
                        <a:lnSpc>
                          <a:spcPct val="100000"/>
                        </a:lnSpc>
                        <a:spcBef>
                          <a:spcPts val="0"/>
                        </a:spcBef>
                        <a:spcAft>
                          <a:spcPts val="0"/>
                        </a:spcAft>
                        <a:buNone/>
                      </a:pPr>
                      <a:r>
                        <a:rPr lang="en-IN" sz="1800" b="0" i="0" u="none" strike="noStrike" noProof="0" dirty="0">
                          <a:solidFill>
                            <a:srgbClr val="000000"/>
                          </a:solidFill>
                          <a:latin typeface="Trebuchet MS"/>
                        </a:rPr>
                        <a:t>[6]</a:t>
                      </a:r>
                      <a:endParaRPr lang="en-US" sz="1800" b="0" i="0" u="none" strike="noStrike" noProof="0" dirty="0">
                        <a:solidFill>
                          <a:srgbClr val="000000"/>
                        </a:solidFill>
                        <a:latin typeface="Trebuchet MS"/>
                      </a:endParaRPr>
                    </a:p>
                    <a:p>
                      <a:pPr lvl="0" algn="ctr">
                        <a:lnSpc>
                          <a:spcPct val="100000"/>
                        </a:lnSpc>
                        <a:spcBef>
                          <a:spcPts val="484"/>
                        </a:spcBef>
                        <a:buNone/>
                      </a:pPr>
                      <a:endParaRPr lang="en-US" sz="1800" dirty="0">
                        <a:latin typeface="Trebuchet MS"/>
                        <a:cs typeface="Trebuchet MS"/>
                      </a:endParaRPr>
                    </a:p>
                  </a:txBody>
                  <a:tcPr marL="0" marR="0" marT="61594" marB="0" anchor="ctr">
                    <a:solidFill>
                      <a:schemeClr val="tx2">
                        <a:lumMod val="40000"/>
                        <a:lumOff val="60000"/>
                      </a:schemeClr>
                    </a:solidFill>
                  </a:tcPr>
                </a:tc>
                <a:tc>
                  <a:txBody>
                    <a:bodyPr/>
                    <a:lstStyle/>
                    <a:p>
                      <a:pPr lvl="0" algn="l">
                        <a:lnSpc>
                          <a:spcPct val="100000"/>
                        </a:lnSpc>
                        <a:buNone/>
                      </a:pPr>
                      <a:r>
                        <a:rPr lang="en-US" sz="1400" dirty="0"/>
                        <a:t>Deep learning for healthcare: review, opportunities &amp; challenges</a:t>
                      </a:r>
                    </a:p>
                  </a:txBody>
                  <a:tcPr marL="0" marR="0" marT="0" marB="0" anchor="ctr">
                    <a:solidFill>
                      <a:schemeClr val="tx2">
                        <a:lumMod val="40000"/>
                        <a:lumOff val="60000"/>
                      </a:schemeClr>
                    </a:solidFill>
                  </a:tcPr>
                </a:tc>
                <a:tc>
                  <a:txBody>
                    <a:bodyPr/>
                    <a:lstStyle/>
                    <a:p>
                      <a:pPr lvl="0" algn="l">
                        <a:lnSpc>
                          <a:spcPct val="100000"/>
                        </a:lnSpc>
                        <a:buNone/>
                      </a:pPr>
                      <a:r>
                        <a:rPr lang="en-US" sz="1400" dirty="0"/>
                        <a:t>Survey of deep-learning applications (imaging, sensor-data, EHR); discusses model design, data requirements, limitations.</a:t>
                      </a:r>
                    </a:p>
                  </a:txBody>
                  <a:tcPr marL="0" marR="0" marT="0" marB="0" anchor="ctr">
                    <a:solidFill>
                      <a:schemeClr val="tx2">
                        <a:lumMod val="40000"/>
                        <a:lumOff val="60000"/>
                      </a:schemeClr>
                    </a:solidFill>
                  </a:tcPr>
                </a:tc>
                <a:tc>
                  <a:txBody>
                    <a:bodyPr/>
                    <a:lstStyle/>
                    <a:p>
                      <a:pPr lvl="0" algn="l">
                        <a:lnSpc>
                          <a:spcPct val="100000"/>
                        </a:lnSpc>
                        <a:buNone/>
                      </a:pPr>
                      <a:r>
                        <a:rPr lang="en-US" sz="1400" dirty="0"/>
                        <a:t>Demonstrates that DL can transform large-scale biomedical data analysis but highlights needs: explainability, data sharing, privacy.</a:t>
                      </a:r>
                    </a:p>
                  </a:txBody>
                  <a:tcPr marL="0" marR="0" marT="0" marB="0" anchor="ctr">
                    <a:solidFill>
                      <a:schemeClr val="tx2">
                        <a:lumMod val="40000"/>
                        <a:lumOff val="60000"/>
                      </a:schemeClr>
                    </a:solidFill>
                  </a:tcPr>
                </a:tc>
                <a:tc>
                  <a:txBody>
                    <a:bodyPr/>
                    <a:lstStyle/>
                    <a:p>
                      <a:pPr lvl="0" algn="l">
                        <a:lnSpc>
                          <a:spcPct val="100000"/>
                        </a:lnSpc>
                        <a:buNone/>
                      </a:pPr>
                      <a:r>
                        <a:rPr lang="en-US" sz="1400" dirty="0"/>
                        <a:t>Applies mainly to high-quality clinical datasets (imaging/EHR). Gap: methods and best practices for low-cost, privacy-preserving, continuous personal-health models that operate on heterogeneous personal-device data</a:t>
                      </a:r>
                    </a:p>
                  </a:txBody>
                  <a:tcPr marL="0" marR="0" marT="0" marB="0" anchor="ctr">
                    <a:solidFill>
                      <a:schemeClr val="tx2">
                        <a:lumMod val="40000"/>
                        <a:lumOff val="60000"/>
                      </a:schemeClr>
                    </a:solidFill>
                  </a:tcPr>
                </a:tc>
                <a:extLst>
                  <a:ext uri="{0D108BD9-81ED-4DB2-BD59-A6C34878D82A}">
                    <a16:rowId xmlns:a16="http://schemas.microsoft.com/office/drawing/2014/main" val="3015962188"/>
                  </a:ext>
                </a:extLst>
              </a:tr>
            </a:tbl>
          </a:graphicData>
        </a:graphic>
      </p:graphicFrame>
    </p:spTree>
    <p:extLst>
      <p:ext uri="{BB962C8B-B14F-4D97-AF65-F5344CB8AC3E}">
        <p14:creationId xmlns:p14="http://schemas.microsoft.com/office/powerpoint/2010/main" val="662870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BD016-0CED-3A7D-75BA-40AA5D586A4D}"/>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21DAA4AA-5DAC-D388-42FC-B5C56850B650}"/>
              </a:ext>
            </a:extLst>
          </p:cNvPr>
          <p:cNvPicPr/>
          <p:nvPr/>
        </p:nvPicPr>
        <p:blipFill>
          <a:blip r:embed="rId2" cstate="print"/>
          <a:stretch>
            <a:fillRect/>
          </a:stretch>
        </p:blipFill>
        <p:spPr>
          <a:xfrm>
            <a:off x="1136320" y="151231"/>
            <a:ext cx="6690858" cy="644598"/>
          </a:xfrm>
          <a:prstGeom prst="rect">
            <a:avLst/>
          </a:prstGeom>
        </p:spPr>
      </p:pic>
      <p:graphicFrame>
        <p:nvGraphicFramePr>
          <p:cNvPr id="4" name="Table 3">
            <a:extLst>
              <a:ext uri="{FF2B5EF4-FFF2-40B4-BE49-F238E27FC236}">
                <a16:creationId xmlns:a16="http://schemas.microsoft.com/office/drawing/2014/main" id="{7D7883E5-2A9A-C9E1-586D-5A9B45255B3E}"/>
              </a:ext>
            </a:extLst>
          </p:cNvPr>
          <p:cNvGraphicFramePr>
            <a:graphicFrameLocks noGrp="1"/>
          </p:cNvGraphicFramePr>
          <p:nvPr>
            <p:extLst>
              <p:ext uri="{D42A27DB-BD31-4B8C-83A1-F6EECF244321}">
                <p14:modId xmlns:p14="http://schemas.microsoft.com/office/powerpoint/2010/main" val="1412450838"/>
              </p:ext>
            </p:extLst>
          </p:nvPr>
        </p:nvGraphicFramePr>
        <p:xfrm>
          <a:off x="306731" y="1600200"/>
          <a:ext cx="8530538" cy="4197078"/>
        </p:xfrm>
        <a:graphic>
          <a:graphicData uri="http://schemas.openxmlformats.org/drawingml/2006/table">
            <a:tbl>
              <a:tblPr firstRow="1" bandRow="1">
                <a:tableStyleId>{3C2FFA5D-87B4-456A-9821-1D502468CF0F}</a:tableStyleId>
              </a:tblPr>
              <a:tblGrid>
                <a:gridCol w="825963">
                  <a:extLst>
                    <a:ext uri="{9D8B030D-6E8A-4147-A177-3AD203B41FA5}">
                      <a16:colId xmlns:a16="http://schemas.microsoft.com/office/drawing/2014/main" val="440915339"/>
                    </a:ext>
                  </a:extLst>
                </a:gridCol>
                <a:gridCol w="2025950">
                  <a:extLst>
                    <a:ext uri="{9D8B030D-6E8A-4147-A177-3AD203B41FA5}">
                      <a16:colId xmlns:a16="http://schemas.microsoft.com/office/drawing/2014/main" val="3147113742"/>
                    </a:ext>
                  </a:extLst>
                </a:gridCol>
                <a:gridCol w="1964125">
                  <a:extLst>
                    <a:ext uri="{9D8B030D-6E8A-4147-A177-3AD203B41FA5}">
                      <a16:colId xmlns:a16="http://schemas.microsoft.com/office/drawing/2014/main" val="184182386"/>
                    </a:ext>
                  </a:extLst>
                </a:gridCol>
                <a:gridCol w="1857250">
                  <a:extLst>
                    <a:ext uri="{9D8B030D-6E8A-4147-A177-3AD203B41FA5}">
                      <a16:colId xmlns:a16="http://schemas.microsoft.com/office/drawing/2014/main" val="2069922793"/>
                    </a:ext>
                  </a:extLst>
                </a:gridCol>
                <a:gridCol w="1857250">
                  <a:extLst>
                    <a:ext uri="{9D8B030D-6E8A-4147-A177-3AD203B41FA5}">
                      <a16:colId xmlns:a16="http://schemas.microsoft.com/office/drawing/2014/main" val="523317479"/>
                    </a:ext>
                  </a:extLst>
                </a:gridCol>
              </a:tblGrid>
              <a:tr h="329969">
                <a:tc>
                  <a:txBody>
                    <a:bodyPr/>
                    <a:lstStyle/>
                    <a:p>
                      <a:pPr lvl="0" algn="ctr">
                        <a:lnSpc>
                          <a:spcPct val="100000"/>
                        </a:lnSpc>
                        <a:spcBef>
                          <a:spcPts val="484"/>
                        </a:spcBef>
                      </a:pPr>
                      <a:r>
                        <a:rPr lang="en-IN" sz="1100" b="1" dirty="0">
                          <a:solidFill>
                            <a:schemeClr val="lt1"/>
                          </a:solidFill>
                          <a:latin typeface="Times New Roman"/>
                          <a:ea typeface="+mn-ea"/>
                          <a:cs typeface="Times New Roman"/>
                        </a:rPr>
                        <a:t>SR. NO.</a:t>
                      </a:r>
                      <a:endParaRPr lang="en-US" sz="1100" b="1" dirty="0">
                        <a:solidFill>
                          <a:schemeClr val="lt1"/>
                        </a:solidFill>
                        <a:latin typeface="Times New Roman"/>
                        <a:ea typeface="+mn-ea"/>
                        <a:cs typeface="Times New Roman"/>
                      </a:endParaRPr>
                    </a:p>
                  </a:txBody>
                  <a:tcPr marL="0" marR="0" marT="61594" marB="0" anchor="ctr"/>
                </a:tc>
                <a:tc>
                  <a:txBody>
                    <a:bodyPr/>
                    <a:lstStyle/>
                    <a:p>
                      <a:pPr lvl="0" algn="ctr">
                        <a:lnSpc>
                          <a:spcPct val="100000"/>
                        </a:lnSpc>
                      </a:pPr>
                      <a:r>
                        <a:rPr lang="en-IN" sz="1100" dirty="0">
                          <a:latin typeface="Times New Roman"/>
                          <a:cs typeface="Times New Roman"/>
                        </a:rPr>
                        <a:t>          PAPER DETAIL</a:t>
                      </a:r>
                    </a:p>
                  </a:txBody>
                  <a:tcPr marL="0" marR="0" marT="0" marB="0" anchor="ctr"/>
                </a:tc>
                <a:tc>
                  <a:txBody>
                    <a:bodyPr/>
                    <a:lstStyle/>
                    <a:p>
                      <a:pPr marL="457200" lvl="1" indent="0" algn="ctr">
                        <a:lnSpc>
                          <a:spcPct val="100000"/>
                        </a:lnSpc>
                        <a:buFont typeface="Arial" panose="020B0604020202020204" pitchFamily="34" charset="0"/>
                        <a:buNone/>
                      </a:pPr>
                      <a:r>
                        <a:rPr lang="en-IN" sz="1100" dirty="0">
                          <a:latin typeface="Times New Roman"/>
                          <a:cs typeface="Times New Roman"/>
                        </a:rPr>
                        <a:t>METHOD</a:t>
                      </a:r>
                      <a:endParaRPr lang="en-US" sz="1100" dirty="0">
                        <a:latin typeface="Times New Roman"/>
                        <a:cs typeface="Times New Roman"/>
                      </a:endParaRPr>
                    </a:p>
                  </a:txBody>
                  <a:tcPr marL="0" marR="0" marT="0" marB="0" anchor="ctr"/>
                </a:tc>
                <a:tc>
                  <a:txBody>
                    <a:bodyPr/>
                    <a:lstStyle/>
                    <a:p>
                      <a:pPr lvl="1" algn="ctr">
                        <a:lnSpc>
                          <a:spcPct val="100000"/>
                        </a:lnSpc>
                      </a:pPr>
                      <a:r>
                        <a:rPr lang="en-IN" sz="1100" dirty="0">
                          <a:latin typeface="Times New Roman"/>
                          <a:cs typeface="Times New Roman"/>
                        </a:rPr>
                        <a:t>RESULT</a:t>
                      </a:r>
                      <a:endParaRPr lang="en-US" sz="1100" dirty="0">
                        <a:latin typeface="Times New Roman"/>
                        <a:cs typeface="Times New Roman"/>
                      </a:endParaRPr>
                    </a:p>
                  </a:txBody>
                  <a:tcPr marL="0" marR="0" marT="0" marB="0" anchor="ctr"/>
                </a:tc>
                <a:tc>
                  <a:txBody>
                    <a:bodyPr/>
                    <a:lstStyle/>
                    <a:p>
                      <a:pPr lvl="1" algn="ctr">
                        <a:lnSpc>
                          <a:spcPct val="100000"/>
                        </a:lnSpc>
                      </a:pPr>
                      <a:r>
                        <a:rPr lang="en-IN" sz="1100" dirty="0">
                          <a:latin typeface="Times New Roman"/>
                          <a:cs typeface="Times New Roman"/>
                        </a:rPr>
                        <a:t>SCOPE/GAP</a:t>
                      </a:r>
                    </a:p>
                    <a:p>
                      <a:pPr lvl="2" algn="ctr">
                        <a:lnSpc>
                          <a:spcPct val="100000"/>
                        </a:lnSpc>
                      </a:pPr>
                      <a:endParaRPr lang="en-US" sz="1100" dirty="0">
                        <a:latin typeface="Times New Roman"/>
                        <a:cs typeface="Times New Roman"/>
                      </a:endParaRPr>
                    </a:p>
                  </a:txBody>
                  <a:tcPr marL="0" marR="0" marT="0" marB="0" anchor="ctr"/>
                </a:tc>
                <a:extLst>
                  <a:ext uri="{0D108BD9-81ED-4DB2-BD59-A6C34878D82A}">
                    <a16:rowId xmlns:a16="http://schemas.microsoft.com/office/drawing/2014/main" val="3658351057"/>
                  </a:ext>
                </a:extLst>
              </a:tr>
              <a:tr h="1434102">
                <a:tc>
                  <a:txBody>
                    <a:bodyPr/>
                    <a:lstStyle/>
                    <a:p>
                      <a:pPr algn="ctr">
                        <a:lnSpc>
                          <a:spcPct val="100000"/>
                        </a:lnSpc>
                        <a:spcBef>
                          <a:spcPts val="484"/>
                        </a:spcBef>
                      </a:pPr>
                      <a:r>
                        <a:rPr lang="en-IN" sz="1800" dirty="0">
                          <a:latin typeface="Trebuchet MS"/>
                          <a:cs typeface="Trebuchet MS"/>
                        </a:rPr>
                        <a:t>[7]</a:t>
                      </a:r>
                    </a:p>
                    <a:p>
                      <a:pPr algn="ctr">
                        <a:lnSpc>
                          <a:spcPct val="100000"/>
                        </a:lnSpc>
                        <a:spcBef>
                          <a:spcPts val="484"/>
                        </a:spcBef>
                      </a:pPr>
                      <a:endParaRPr lang="en-US" sz="1800" dirty="0">
                        <a:latin typeface="Trebuchet MS"/>
                        <a:cs typeface="Trebuchet MS"/>
                      </a:endParaRPr>
                    </a:p>
                  </a:txBody>
                  <a:tcPr marL="0" marR="0" marT="61594" marB="0" anchor="ctr">
                    <a:solidFill>
                      <a:schemeClr val="tx2">
                        <a:lumMod val="40000"/>
                        <a:lumOff val="60000"/>
                      </a:schemeClr>
                    </a:solid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dirty="0"/>
                        <a:t>AI-Powered Fitness Tracking Applications</a:t>
                      </a:r>
                    </a:p>
                    <a:p>
                      <a:pPr lvl="0" algn="l">
                        <a:lnSpc>
                          <a:spcPct val="100000"/>
                        </a:lnSpc>
                        <a:buNone/>
                      </a:pPr>
                      <a:endParaRPr lang="en-US" sz="1600" dirty="0"/>
                    </a:p>
                  </a:txBody>
                  <a:tcPr marL="0" marR="0" marT="0" marB="0" anchor="ctr">
                    <a:solidFill>
                      <a:schemeClr val="tx2">
                        <a:lumMod val="40000"/>
                        <a:lumOff val="60000"/>
                      </a:schemeClr>
                    </a:solid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dirty="0"/>
                        <a:t>Integration of wearable device data with AI algorithms for personalized activity recommendations</a:t>
                      </a:r>
                    </a:p>
                    <a:p>
                      <a:pPr lvl="0" algn="l">
                        <a:lnSpc>
                          <a:spcPct val="100000"/>
                        </a:lnSpc>
                        <a:buNone/>
                      </a:pPr>
                      <a:endParaRPr lang="en-US" sz="1600" dirty="0"/>
                    </a:p>
                  </a:txBody>
                  <a:tcPr marL="0" marR="0" marT="0" marB="0" anchor="ctr">
                    <a:solidFill>
                      <a:schemeClr val="tx2">
                        <a:lumMod val="40000"/>
                        <a:lumOff val="60000"/>
                      </a:schemeClr>
                    </a:solid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dirty="0"/>
                        <a:t>Improves user adherence to physical activity plans</a:t>
                      </a:r>
                    </a:p>
                    <a:p>
                      <a:pPr lvl="0" algn="l">
                        <a:lnSpc>
                          <a:spcPct val="100000"/>
                        </a:lnSpc>
                        <a:buNone/>
                      </a:pPr>
                      <a:endParaRPr lang="en-US" sz="1600" dirty="0"/>
                    </a:p>
                  </a:txBody>
                  <a:tcPr marL="0" marR="0" marT="0" marB="0" anchor="ctr">
                    <a:solidFill>
                      <a:schemeClr val="tx2">
                        <a:lumMod val="40000"/>
                        <a:lumOff val="60000"/>
                      </a:schemeClr>
                    </a:solid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dirty="0"/>
                        <a:t>Often limited to fitness tracking; no integration with disease prediction or mental health monitoring</a:t>
                      </a:r>
                    </a:p>
                    <a:p>
                      <a:pPr lvl="0" algn="l">
                        <a:lnSpc>
                          <a:spcPct val="100000"/>
                        </a:lnSpc>
                        <a:buNone/>
                      </a:pPr>
                      <a:r>
                        <a:rPr lang="en-US" sz="1600" dirty="0"/>
                        <a:t>. </a:t>
                      </a:r>
                    </a:p>
                  </a:txBody>
                  <a:tcPr marL="0" marR="0" marT="0" marB="0" anchor="ctr">
                    <a:solidFill>
                      <a:schemeClr val="tx2">
                        <a:lumMod val="40000"/>
                        <a:lumOff val="60000"/>
                      </a:schemeClr>
                    </a:solidFill>
                  </a:tcPr>
                </a:tc>
                <a:extLst>
                  <a:ext uri="{0D108BD9-81ED-4DB2-BD59-A6C34878D82A}">
                    <a16:rowId xmlns:a16="http://schemas.microsoft.com/office/drawing/2014/main" val="2823133509"/>
                  </a:ext>
                </a:extLst>
              </a:tr>
              <a:tr h="2154918">
                <a:tc>
                  <a:txBody>
                    <a:bodyPr/>
                    <a:lstStyle/>
                    <a:p>
                      <a:pPr lvl="0" algn="ctr">
                        <a:lnSpc>
                          <a:spcPct val="100000"/>
                        </a:lnSpc>
                        <a:spcBef>
                          <a:spcPts val="0"/>
                        </a:spcBef>
                        <a:spcAft>
                          <a:spcPts val="0"/>
                        </a:spcAft>
                        <a:buNone/>
                      </a:pPr>
                      <a:r>
                        <a:rPr lang="en-IN" sz="1800" b="0" i="0" u="none" strike="noStrike" noProof="0" dirty="0">
                          <a:solidFill>
                            <a:srgbClr val="000000"/>
                          </a:solidFill>
                          <a:latin typeface="Trebuchet MS"/>
                        </a:rPr>
                        <a:t>[8]</a:t>
                      </a:r>
                      <a:endParaRPr lang="en-US" sz="1800" b="0" i="0" u="none" strike="noStrike" noProof="0" dirty="0">
                        <a:solidFill>
                          <a:srgbClr val="000000"/>
                        </a:solidFill>
                        <a:latin typeface="Trebuchet MS"/>
                      </a:endParaRPr>
                    </a:p>
                    <a:p>
                      <a:pPr lvl="0" algn="ctr">
                        <a:lnSpc>
                          <a:spcPct val="100000"/>
                        </a:lnSpc>
                        <a:spcBef>
                          <a:spcPts val="484"/>
                        </a:spcBef>
                        <a:buNone/>
                      </a:pPr>
                      <a:endParaRPr lang="en-US" sz="1800" dirty="0">
                        <a:latin typeface="Trebuchet MS"/>
                        <a:cs typeface="Trebuchet MS"/>
                      </a:endParaRPr>
                    </a:p>
                  </a:txBody>
                  <a:tcPr marL="0" marR="0" marT="61594" marB="0" anchor="ctr">
                    <a:solidFill>
                      <a:schemeClr val="tx2">
                        <a:lumMod val="40000"/>
                        <a:lumOff val="60000"/>
                      </a:schemeClr>
                    </a:solid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dirty="0"/>
                        <a:t>GPS-Based Healthcare Services Finder</a:t>
                      </a:r>
                    </a:p>
                    <a:p>
                      <a:pPr lvl="0" algn="l">
                        <a:lnSpc>
                          <a:spcPct val="100000"/>
                        </a:lnSpc>
                        <a:buNone/>
                      </a:pPr>
                      <a:endParaRPr lang="en-US" sz="1600" dirty="0"/>
                    </a:p>
                  </a:txBody>
                  <a:tcPr marL="0" marR="0" marT="0" marB="0" anchor="ctr">
                    <a:solidFill>
                      <a:schemeClr val="tx2">
                        <a:lumMod val="40000"/>
                        <a:lumOff val="60000"/>
                      </a:schemeClr>
                    </a:solid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dirty="0"/>
                        <a:t>Mobile app using GPS and database of healthcare providers</a:t>
                      </a:r>
                    </a:p>
                    <a:p>
                      <a:pPr lvl="0" algn="l">
                        <a:lnSpc>
                          <a:spcPct val="100000"/>
                        </a:lnSpc>
                        <a:buNone/>
                      </a:pPr>
                      <a:endParaRPr lang="en-US" sz="1600" dirty="0"/>
                    </a:p>
                  </a:txBody>
                  <a:tcPr marL="0" marR="0" marT="0" marB="0" anchor="ctr">
                    <a:solidFill>
                      <a:schemeClr val="tx2">
                        <a:lumMod val="40000"/>
                        <a:lumOff val="60000"/>
                      </a:schemeClr>
                    </a:solid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dirty="0"/>
                        <a:t>Enables quick location of nearby doctors and hospitals</a:t>
                      </a:r>
                    </a:p>
                    <a:p>
                      <a:pPr lvl="0" algn="l">
                        <a:lnSpc>
                          <a:spcPct val="100000"/>
                        </a:lnSpc>
                        <a:buNone/>
                      </a:pPr>
                      <a:r>
                        <a:rPr lang="en-US" sz="1600" dirty="0"/>
                        <a:t>.</a:t>
                      </a:r>
                    </a:p>
                  </a:txBody>
                  <a:tcPr marL="0" marR="0" marT="0" marB="0" anchor="ctr">
                    <a:solidFill>
                      <a:schemeClr val="tx2">
                        <a:lumMod val="40000"/>
                        <a:lumOff val="60000"/>
                      </a:schemeClr>
                    </a:solid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dirty="0"/>
                        <a:t>Lacks AI-driven matching based on medical urgency or specialization</a:t>
                      </a:r>
                    </a:p>
                    <a:p>
                      <a:pPr lvl="0" algn="l">
                        <a:lnSpc>
                          <a:spcPct val="100000"/>
                        </a:lnSpc>
                        <a:buNone/>
                      </a:pPr>
                      <a:endParaRPr lang="en-US" sz="1600" dirty="0"/>
                    </a:p>
                  </a:txBody>
                  <a:tcPr marL="0" marR="0" marT="0" marB="0" anchor="ctr">
                    <a:solidFill>
                      <a:schemeClr val="tx2">
                        <a:lumMod val="40000"/>
                        <a:lumOff val="60000"/>
                      </a:schemeClr>
                    </a:solidFill>
                  </a:tcPr>
                </a:tc>
                <a:extLst>
                  <a:ext uri="{0D108BD9-81ED-4DB2-BD59-A6C34878D82A}">
                    <a16:rowId xmlns:a16="http://schemas.microsoft.com/office/drawing/2014/main" val="3015962188"/>
                  </a:ext>
                </a:extLst>
              </a:tr>
            </a:tbl>
          </a:graphicData>
        </a:graphic>
      </p:graphicFrame>
    </p:spTree>
    <p:extLst>
      <p:ext uri="{BB962C8B-B14F-4D97-AF65-F5344CB8AC3E}">
        <p14:creationId xmlns:p14="http://schemas.microsoft.com/office/powerpoint/2010/main" val="2033221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69990" y="1165921"/>
            <a:ext cx="2733411" cy="382156"/>
          </a:xfrm>
          <a:prstGeom prst="rect">
            <a:avLst/>
          </a:prstGeom>
        </p:spPr>
        <p:txBody>
          <a:bodyPr vert="horz" wrap="square" lIns="0" tIns="12700" rIns="0" bIns="0" rtlCol="0" anchor="t">
            <a:spAutoFit/>
          </a:bodyPr>
          <a:lstStyle/>
          <a:p>
            <a:pPr marL="12700">
              <a:lnSpc>
                <a:spcPct val="100000"/>
              </a:lnSpc>
              <a:spcBef>
                <a:spcPts val="100"/>
              </a:spcBef>
            </a:pPr>
            <a:r>
              <a:rPr dirty="0"/>
              <a:t>Problem</a:t>
            </a:r>
            <a:r>
              <a:rPr spc="-90" dirty="0"/>
              <a:t> </a:t>
            </a:r>
            <a:r>
              <a:rPr spc="-10" dirty="0"/>
              <a:t>Statement</a:t>
            </a:r>
            <a:r>
              <a:rPr lang="en-US" spc="-10" dirty="0"/>
              <a:t>:</a:t>
            </a:r>
            <a:endParaRPr lang="en-US" dirty="0"/>
          </a:p>
        </p:txBody>
      </p:sp>
      <p:pic>
        <p:nvPicPr>
          <p:cNvPr id="3" name="object 3"/>
          <p:cNvPicPr/>
          <p:nvPr/>
        </p:nvPicPr>
        <p:blipFill>
          <a:blip r:embed="rId2" cstate="print"/>
          <a:stretch>
            <a:fillRect/>
          </a:stretch>
        </p:blipFill>
        <p:spPr>
          <a:xfrm>
            <a:off x="1136320" y="151231"/>
            <a:ext cx="6690858" cy="644598"/>
          </a:xfrm>
          <a:prstGeom prst="rect">
            <a:avLst/>
          </a:prstGeom>
        </p:spPr>
      </p:pic>
      <p:sp>
        <p:nvSpPr>
          <p:cNvPr id="5" name="object 5"/>
          <p:cNvSpPr txBox="1">
            <a:spLocks noGrp="1"/>
          </p:cNvSpPr>
          <p:nvPr>
            <p:ph type="ftr" sz="quarter" idx="5"/>
          </p:nvPr>
        </p:nvSpPr>
        <p:spPr>
          <a:xfrm>
            <a:off x="195997" y="6259837"/>
            <a:ext cx="1696720" cy="140423"/>
          </a:xfrm>
          <a:prstGeom prst="rect">
            <a:avLst/>
          </a:prstGeom>
        </p:spPr>
        <p:txBody>
          <a:bodyPr vert="horz" wrap="square" lIns="0" tIns="1905" rIns="0" bIns="0" rtlCol="0">
            <a:spAutoFit/>
          </a:bodyPr>
          <a:lstStyle/>
          <a:p>
            <a:pPr marL="12700">
              <a:lnSpc>
                <a:spcPct val="100000"/>
              </a:lnSpc>
              <a:spcBef>
                <a:spcPts val="15"/>
              </a:spcBef>
            </a:pPr>
            <a:r>
              <a:rPr dirty="0"/>
              <a:t>BE-</a:t>
            </a:r>
            <a:r>
              <a:rPr spc="-10" dirty="0"/>
              <a:t> </a:t>
            </a:r>
            <a:r>
              <a:rPr lang="en-US" spc="-10" dirty="0"/>
              <a:t>Major </a:t>
            </a:r>
            <a:r>
              <a:rPr dirty="0"/>
              <a:t>Project</a:t>
            </a:r>
            <a:r>
              <a:rPr spc="-10" dirty="0"/>
              <a:t> </a:t>
            </a:r>
            <a:r>
              <a:rPr dirty="0"/>
              <a:t>-</a:t>
            </a:r>
            <a:r>
              <a:rPr spc="-5" dirty="0"/>
              <a:t> </a:t>
            </a:r>
            <a:r>
              <a:rPr spc="-20" dirty="0"/>
              <a:t>SH25</a:t>
            </a:r>
          </a:p>
        </p:txBody>
      </p:sp>
      <p:sp>
        <p:nvSpPr>
          <p:cNvPr id="11" name="TextBox 10">
            <a:extLst>
              <a:ext uri="{FF2B5EF4-FFF2-40B4-BE49-F238E27FC236}">
                <a16:creationId xmlns:a16="http://schemas.microsoft.com/office/drawing/2014/main" id="{9B45A41D-6C8C-F064-2DE4-63F1D884BE92}"/>
              </a:ext>
            </a:extLst>
          </p:cNvPr>
          <p:cNvSpPr txBox="1"/>
          <p:nvPr/>
        </p:nvSpPr>
        <p:spPr>
          <a:xfrm>
            <a:off x="476002" y="1548077"/>
            <a:ext cx="8321386" cy="4524315"/>
          </a:xfrm>
          <a:prstGeom prst="rect">
            <a:avLst/>
          </a:prstGeom>
          <a:noFill/>
        </p:spPr>
        <p:txBody>
          <a:bodyPr wrap="square" lIns="91440" tIns="45720" rIns="91440" bIns="45720" anchor="t">
            <a:spAutoFit/>
          </a:bodyPr>
          <a:lstStyle/>
          <a:p>
            <a:pPr algn="just"/>
            <a:endParaRPr lang="en-US" b="1" dirty="0"/>
          </a:p>
          <a:p>
            <a:pPr marL="285750" indent="-285750" algn="just">
              <a:buFont typeface="Arial" panose="020B0604020202020204" pitchFamily="34" charset="0"/>
              <a:buChar char="•"/>
            </a:pPr>
            <a:r>
              <a:rPr lang="en-US" dirty="0"/>
              <a:t>Existing health tracking and AI wellness applications are fragmented, focusing only on individual aspects such as step counting, calorie tracking, or basic symptom checks. Users need to rely on multiple apps to monitor diet, exercise, mental health, and medical concerns. There is no single integrated platform that combines:</a:t>
            </a:r>
          </a:p>
          <a:p>
            <a:pPr marL="342900" indent="-342900" algn="just">
              <a:buFont typeface="Wingdings" panose="05000000000000000000" pitchFamily="2" charset="2"/>
              <a:buChar char="Ø"/>
            </a:pPr>
            <a:r>
              <a:rPr lang="en-US" dirty="0"/>
              <a:t>AI-based disease prediction from symptoms,</a:t>
            </a:r>
          </a:p>
          <a:p>
            <a:pPr marL="342900" indent="-342900" algn="just">
              <a:buFont typeface="Wingdings" panose="05000000000000000000" pitchFamily="2" charset="2"/>
              <a:buChar char="Ø"/>
            </a:pPr>
            <a:r>
              <a:rPr lang="en-US" dirty="0"/>
              <a:t>Personalized lifestyle and diet planning,</a:t>
            </a:r>
          </a:p>
          <a:p>
            <a:pPr marL="342900" indent="-342900" algn="just">
              <a:buFont typeface="Wingdings" panose="05000000000000000000" pitchFamily="2" charset="2"/>
              <a:buChar char="Ø"/>
            </a:pPr>
            <a:r>
              <a:rPr lang="en-US" dirty="0"/>
              <a:t>Mental health tracking,</a:t>
            </a:r>
          </a:p>
          <a:p>
            <a:pPr marL="342900" indent="-342900" algn="just">
              <a:buFont typeface="Wingdings" panose="05000000000000000000" pitchFamily="2" charset="2"/>
              <a:buChar char="Ø"/>
            </a:pPr>
            <a:r>
              <a:rPr lang="en-US" dirty="0"/>
              <a:t>GPS-enabled doctor recommendations, and</a:t>
            </a:r>
          </a:p>
          <a:p>
            <a:pPr marL="342900" indent="-342900" algn="just">
              <a:buFont typeface="Wingdings" panose="05000000000000000000" pitchFamily="2" charset="2"/>
              <a:buChar char="Ø"/>
            </a:pPr>
            <a:r>
              <a:rPr lang="en-US" dirty="0"/>
              <a:t>Data-driven health trend analysis.</a:t>
            </a:r>
          </a:p>
          <a:p>
            <a:pPr marL="342900" indent="-342900" algn="just">
              <a:buFont typeface="Wingdings" panose="05000000000000000000" pitchFamily="2" charset="2"/>
              <a:buChar char="Ø"/>
            </a:pPr>
            <a:endParaRPr lang="en-US" dirty="0"/>
          </a:p>
          <a:p>
            <a:pPr marL="285750" indent="-285750" algn="just">
              <a:buFont typeface="Arial" panose="020B0604020202020204" pitchFamily="34" charset="0"/>
              <a:buChar char="•"/>
            </a:pPr>
            <a:r>
              <a:rPr lang="en-US" dirty="0"/>
              <a:t>The challenge is to design a comprehensive AI-based solution that addresses all these aspects in one platform, making health management more efficient, personalized, and accessible.</a:t>
            </a:r>
          </a:p>
          <a:p>
            <a:pPr marL="285750" indent="-285750" algn="just">
              <a:buFont typeface="Arial"/>
              <a:buChar char="•"/>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ftr" sz="quarter" idx="5"/>
          </p:nvPr>
        </p:nvSpPr>
        <p:spPr>
          <a:xfrm>
            <a:off x="228600" y="6629898"/>
            <a:ext cx="1696720" cy="140423"/>
          </a:xfrm>
          <a:prstGeom prst="rect">
            <a:avLst/>
          </a:prstGeom>
        </p:spPr>
        <p:txBody>
          <a:bodyPr vert="horz" wrap="square" lIns="0" tIns="1905" rIns="0" bIns="0" rtlCol="0">
            <a:spAutoFit/>
          </a:bodyPr>
          <a:lstStyle/>
          <a:p>
            <a:pPr marL="12700">
              <a:lnSpc>
                <a:spcPct val="100000"/>
              </a:lnSpc>
              <a:spcBef>
                <a:spcPts val="15"/>
              </a:spcBef>
            </a:pPr>
            <a:r>
              <a:rPr dirty="0"/>
              <a:t>BE-</a:t>
            </a:r>
            <a:r>
              <a:rPr spc="-10" dirty="0"/>
              <a:t> </a:t>
            </a:r>
            <a:r>
              <a:rPr lang="en-US" spc="-10" dirty="0"/>
              <a:t>Major </a:t>
            </a:r>
            <a:r>
              <a:rPr spc="-10" dirty="0"/>
              <a:t> </a:t>
            </a:r>
            <a:r>
              <a:rPr dirty="0"/>
              <a:t>Project</a:t>
            </a:r>
            <a:r>
              <a:rPr spc="-10" dirty="0"/>
              <a:t> </a:t>
            </a:r>
            <a:r>
              <a:rPr dirty="0"/>
              <a:t>-</a:t>
            </a:r>
            <a:r>
              <a:rPr spc="-5" dirty="0"/>
              <a:t> </a:t>
            </a:r>
            <a:r>
              <a:rPr spc="-20" dirty="0"/>
              <a:t>SH25</a:t>
            </a:r>
          </a:p>
        </p:txBody>
      </p:sp>
      <p:sp>
        <p:nvSpPr>
          <p:cNvPr id="6" name="TextBox 5">
            <a:extLst>
              <a:ext uri="{FF2B5EF4-FFF2-40B4-BE49-F238E27FC236}">
                <a16:creationId xmlns:a16="http://schemas.microsoft.com/office/drawing/2014/main" id="{E33FA00B-480B-F656-ACFE-F94DF6438C54}"/>
              </a:ext>
            </a:extLst>
          </p:cNvPr>
          <p:cNvSpPr txBox="1"/>
          <p:nvPr/>
        </p:nvSpPr>
        <p:spPr>
          <a:xfrm>
            <a:off x="3317732" y="906718"/>
            <a:ext cx="2502854" cy="478322"/>
          </a:xfrm>
          <a:prstGeom prst="rect">
            <a:avLst/>
          </a:prstGeom>
        </p:spPr>
        <p:txBody>
          <a:bodyPr wrap="square">
            <a:spAutoFit/>
          </a:bodyPr>
          <a:lstStyle/>
          <a:p>
            <a:r>
              <a:rPr lang="en-IN" sz="2400" b="1" u="sng" spc="-10" dirty="0">
                <a:solidFill>
                  <a:schemeClr val="tx1"/>
                </a:solidFill>
                <a:latin typeface="Times New Roman"/>
                <a:ea typeface="+mj-ea"/>
                <a:cs typeface="Times New Roman"/>
              </a:rPr>
              <a:t>Proposed System:</a:t>
            </a:r>
            <a:endParaRPr lang="en-US" sz="2400" b="1" u="sng" spc="-10" dirty="0">
              <a:solidFill>
                <a:schemeClr val="tx1"/>
              </a:solidFill>
              <a:latin typeface="Times New Roman"/>
              <a:ea typeface="+mj-ea"/>
              <a:cs typeface="Times New Roman"/>
            </a:endParaRPr>
          </a:p>
        </p:txBody>
      </p:sp>
      <p:sp>
        <p:nvSpPr>
          <p:cNvPr id="4" name="TextBox 3">
            <a:extLst>
              <a:ext uri="{FF2B5EF4-FFF2-40B4-BE49-F238E27FC236}">
                <a16:creationId xmlns:a16="http://schemas.microsoft.com/office/drawing/2014/main" id="{23EBD430-70E7-9986-470F-C06CB2E63E1D}"/>
              </a:ext>
            </a:extLst>
          </p:cNvPr>
          <p:cNvSpPr txBox="1"/>
          <p:nvPr/>
        </p:nvSpPr>
        <p:spPr>
          <a:xfrm>
            <a:off x="381000" y="1120479"/>
            <a:ext cx="8140767" cy="5324535"/>
          </a:xfrm>
          <a:prstGeom prst="rect">
            <a:avLst/>
          </a:prstGeom>
          <a:noFill/>
        </p:spPr>
        <p:txBody>
          <a:bodyPr wrap="square" lIns="91440" tIns="45720" rIns="91440" bIns="45720" anchor="t">
            <a:spAutoFit/>
          </a:bodyPr>
          <a:lstStyle/>
          <a:p>
            <a:endParaRPr lang="en-US" dirty="0"/>
          </a:p>
          <a:p>
            <a:r>
              <a:rPr lang="en-US" dirty="0"/>
              <a:t>The proposed system is an </a:t>
            </a:r>
            <a:r>
              <a:rPr lang="en-US" b="1" dirty="0"/>
              <a:t>AI &amp; ML-powered personal health and lifestyle management platform</a:t>
            </a:r>
            <a:r>
              <a:rPr lang="en-US" dirty="0"/>
              <a:t> with the following features:</a:t>
            </a:r>
          </a:p>
          <a:p>
            <a:endParaRPr lang="en-US" sz="1600" dirty="0"/>
          </a:p>
          <a:p>
            <a:pPr marL="285750" indent="-285750">
              <a:buFont typeface="Arial" panose="020B0604020202020204" pitchFamily="34" charset="0"/>
              <a:buChar char="•"/>
            </a:pPr>
            <a:r>
              <a:rPr lang="en-US" b="1" dirty="0"/>
              <a:t>Symptom-Based Disease Prediction</a:t>
            </a:r>
            <a:r>
              <a:rPr lang="en-US" dirty="0"/>
              <a:t> – Users input symptoms, and the system uses ML algorithms to predict possible diseases.</a:t>
            </a:r>
          </a:p>
          <a:p>
            <a:endParaRPr lang="en-US" dirty="0"/>
          </a:p>
          <a:p>
            <a:pPr marL="285750" indent="-285750">
              <a:buFont typeface="Arial" panose="020B0604020202020204" pitchFamily="34" charset="0"/>
              <a:buChar char="•"/>
            </a:pPr>
            <a:r>
              <a:rPr lang="en-US" b="1" dirty="0"/>
              <a:t>Mental Health &amp; Mood Tracker</a:t>
            </a:r>
            <a:r>
              <a:rPr lang="en-US" dirty="0"/>
              <a:t> – Tracks emotional well-being through surveys, sentiment analysis, and mood patterns.</a:t>
            </a:r>
          </a:p>
          <a:p>
            <a:endParaRPr lang="en-US" dirty="0"/>
          </a:p>
          <a:p>
            <a:pPr marL="285750" indent="-285750">
              <a:buFont typeface="Arial" panose="020B0604020202020204" pitchFamily="34" charset="0"/>
              <a:buChar char="•"/>
            </a:pPr>
            <a:r>
              <a:rPr lang="en-US" b="1" dirty="0"/>
              <a:t>AI Diet &amp; Fitness Planner</a:t>
            </a:r>
            <a:r>
              <a:rPr lang="en-US" dirty="0"/>
              <a:t> – Recommends daily meal plans and workouts based on health goals.</a:t>
            </a:r>
          </a:p>
          <a:p>
            <a:endParaRPr lang="en-US" dirty="0"/>
          </a:p>
          <a:p>
            <a:pPr marL="285750" indent="-285750">
              <a:buFont typeface="Arial" panose="020B0604020202020204" pitchFamily="34" charset="0"/>
              <a:buChar char="•"/>
            </a:pPr>
            <a:r>
              <a:rPr lang="en-US" b="1" dirty="0"/>
              <a:t>AI Medical Chatbot</a:t>
            </a:r>
            <a:r>
              <a:rPr lang="en-US" dirty="0"/>
              <a:t> – Provides instant answers to health-related queries and first-aid guidance</a:t>
            </a:r>
          </a:p>
          <a:p>
            <a:endParaRPr lang="en-US" dirty="0"/>
          </a:p>
          <a:p>
            <a:pPr marL="285750" indent="-285750">
              <a:buFont typeface="Arial" panose="020B0604020202020204" pitchFamily="34" charset="0"/>
              <a:buChar char="•"/>
            </a:pPr>
            <a:r>
              <a:rPr lang="en-US" b="1" dirty="0"/>
              <a:t>Sleep &amp; Habit Tracker</a:t>
            </a:r>
            <a:r>
              <a:rPr lang="en-US" dirty="0"/>
              <a:t> – Monitors sleep patterns and daily habits for lifestyle improvement.</a:t>
            </a:r>
          </a:p>
          <a:p>
            <a:pPr algn="l"/>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ftr" sz="quarter" idx="5"/>
          </p:nvPr>
        </p:nvSpPr>
        <p:spPr>
          <a:xfrm>
            <a:off x="152400" y="6601678"/>
            <a:ext cx="1696720" cy="140423"/>
          </a:xfrm>
          <a:prstGeom prst="rect">
            <a:avLst/>
          </a:prstGeom>
        </p:spPr>
        <p:txBody>
          <a:bodyPr vert="horz" wrap="square" lIns="0" tIns="1905" rIns="0" bIns="0" rtlCol="0">
            <a:spAutoFit/>
          </a:bodyPr>
          <a:lstStyle/>
          <a:p>
            <a:pPr marL="12700">
              <a:lnSpc>
                <a:spcPct val="100000"/>
              </a:lnSpc>
              <a:spcBef>
                <a:spcPts val="15"/>
              </a:spcBef>
            </a:pPr>
            <a:r>
              <a:rPr dirty="0"/>
              <a:t>BE-</a:t>
            </a:r>
            <a:r>
              <a:rPr spc="-10" dirty="0"/>
              <a:t> </a:t>
            </a:r>
            <a:r>
              <a:rPr lang="en-US" spc="-10" dirty="0"/>
              <a:t>Major </a:t>
            </a:r>
            <a:r>
              <a:rPr dirty="0"/>
              <a:t>Project</a:t>
            </a:r>
            <a:r>
              <a:rPr spc="-10" dirty="0"/>
              <a:t> </a:t>
            </a:r>
            <a:r>
              <a:rPr dirty="0"/>
              <a:t>-</a:t>
            </a:r>
            <a:r>
              <a:rPr spc="-5" dirty="0"/>
              <a:t> </a:t>
            </a:r>
            <a:r>
              <a:rPr spc="-20" dirty="0"/>
              <a:t>SH25</a:t>
            </a:r>
          </a:p>
        </p:txBody>
      </p:sp>
      <p:sp>
        <p:nvSpPr>
          <p:cNvPr id="5" name="TextBox 4">
            <a:extLst>
              <a:ext uri="{FF2B5EF4-FFF2-40B4-BE49-F238E27FC236}">
                <a16:creationId xmlns:a16="http://schemas.microsoft.com/office/drawing/2014/main" id="{B33CEC31-1416-7508-9B68-460EA1F9AF34}"/>
              </a:ext>
            </a:extLst>
          </p:cNvPr>
          <p:cNvSpPr txBox="1"/>
          <p:nvPr/>
        </p:nvSpPr>
        <p:spPr>
          <a:xfrm>
            <a:off x="495300" y="1295400"/>
            <a:ext cx="8153400" cy="5078313"/>
          </a:xfrm>
          <a:prstGeom prst="rect">
            <a:avLst/>
          </a:prstGeom>
          <a:noFill/>
        </p:spPr>
        <p:txBody>
          <a:bodyPr wrap="square">
            <a:spAutoFit/>
          </a:bodyPr>
          <a:lstStyle/>
          <a:p>
            <a:pPr marL="285750" indent="-285750" algn="l">
              <a:buFont typeface="Arial" panose="020B0604020202020204" pitchFamily="34" charset="0"/>
              <a:buChar char="•"/>
            </a:pPr>
            <a:r>
              <a:rPr lang="en-US" b="1" dirty="0"/>
              <a:t>User Dashboard</a:t>
            </a:r>
            <a:r>
              <a:rPr lang="en-US" dirty="0"/>
              <a:t> – Displays health statistics, progress, and personalized recommendations.</a:t>
            </a:r>
          </a:p>
          <a:p>
            <a:pPr marL="285750" indent="-285750" algn="l">
              <a:buFont typeface="Arial" panose="020B0604020202020204" pitchFamily="34" charset="0"/>
              <a:buChar char="•"/>
            </a:pPr>
            <a:endParaRPr lang="en-US" dirty="0"/>
          </a:p>
          <a:p>
            <a:pPr marL="285750" indent="-285750" algn="l">
              <a:buFont typeface="Arial" panose="020B0604020202020204" pitchFamily="34" charset="0"/>
              <a:buChar char="•"/>
            </a:pPr>
            <a:r>
              <a:rPr lang="en-US" b="1" dirty="0"/>
              <a:t>GPS-Based Doctor Finder</a:t>
            </a:r>
            <a:r>
              <a:rPr lang="en-US" dirty="0"/>
              <a:t> – Suggests nearby healthcare providers based on location.</a:t>
            </a:r>
          </a:p>
          <a:p>
            <a:pPr marL="285750" indent="-285750" algn="l">
              <a:buFont typeface="Arial" panose="020B0604020202020204" pitchFamily="34" charset="0"/>
              <a:buChar char="•"/>
            </a:pPr>
            <a:endParaRPr lang="en-US" dirty="0"/>
          </a:p>
          <a:p>
            <a:pPr marL="285750" indent="-285750" algn="l">
              <a:buFont typeface="Arial" panose="020B0604020202020204" pitchFamily="34" charset="0"/>
              <a:buChar char="•"/>
            </a:pPr>
            <a:r>
              <a:rPr lang="en-US" b="1" dirty="0"/>
              <a:t>Health Data Trend Analysis</a:t>
            </a:r>
            <a:r>
              <a:rPr lang="en-US" dirty="0"/>
              <a:t> – Uses AI to detect changes and patterns in long-term health data.</a:t>
            </a:r>
          </a:p>
          <a:p>
            <a:pPr marL="285750" indent="-285750" algn="l">
              <a:buFont typeface="Arial" panose="020B0604020202020204" pitchFamily="34" charset="0"/>
              <a:buChar char="•"/>
            </a:pPr>
            <a:endParaRPr lang="en-US" dirty="0"/>
          </a:p>
          <a:p>
            <a:pPr marL="285750" indent="-285750" algn="l">
              <a:buFont typeface="Arial" panose="020B0604020202020204" pitchFamily="34" charset="0"/>
              <a:buChar char="•"/>
            </a:pPr>
            <a:r>
              <a:rPr lang="en-US" b="1" dirty="0"/>
              <a:t>Sleep Pattern Analysis</a:t>
            </a:r>
            <a:r>
              <a:rPr lang="en-US" dirty="0"/>
              <a:t> – Offers insights to improve sleep quality.</a:t>
            </a:r>
          </a:p>
          <a:p>
            <a:endParaRPr lang="en-US" b="1" dirty="0"/>
          </a:p>
          <a:p>
            <a:r>
              <a:rPr lang="en-US" b="1" dirty="0"/>
              <a:t>Technology Stack:</a:t>
            </a:r>
            <a:endParaRPr lang="en-US" dirty="0"/>
          </a:p>
          <a:p>
            <a:r>
              <a:rPr lang="en-US" b="1" dirty="0"/>
              <a:t>                                  Frontend:</a:t>
            </a:r>
            <a:r>
              <a:rPr lang="en-US" dirty="0"/>
              <a:t> ReactJS , Flutter </a:t>
            </a:r>
          </a:p>
          <a:p>
            <a:r>
              <a:rPr lang="en-US" b="1" dirty="0"/>
              <a:t>                                  Backend:</a:t>
            </a:r>
            <a:r>
              <a:rPr lang="en-US" dirty="0"/>
              <a:t> Python (Flask/Django)</a:t>
            </a:r>
          </a:p>
          <a:p>
            <a:r>
              <a:rPr lang="en-US" b="1" dirty="0"/>
              <a:t>                                  ML Models:</a:t>
            </a:r>
            <a:r>
              <a:rPr lang="en-US" dirty="0"/>
              <a:t> Scikit-learn, TensorFlow</a:t>
            </a:r>
          </a:p>
          <a:p>
            <a:r>
              <a:rPr lang="en-US" b="1" dirty="0"/>
              <a:t>                                  Database:</a:t>
            </a:r>
            <a:r>
              <a:rPr lang="en-US" dirty="0"/>
              <a:t>  MongoDB</a:t>
            </a:r>
          </a:p>
          <a:p>
            <a:r>
              <a:rPr lang="en-US" b="1" dirty="0"/>
              <a:t>                                  APIs:</a:t>
            </a:r>
            <a:r>
              <a:rPr lang="en-US" dirty="0"/>
              <a:t> Google Maps API for GPS tracking</a:t>
            </a:r>
          </a:p>
          <a:p>
            <a:pPr marL="285750" indent="-285750" algn="l">
              <a:buFont typeface="Arial" panose="020B0604020202020204" pitchFamily="34" charset="0"/>
              <a:buChar char="•"/>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42DFCB-2BEC-9F43-29C6-832085C7F816}"/>
              </a:ext>
            </a:extLst>
          </p:cNvPr>
          <p:cNvSpPr txBox="1"/>
          <p:nvPr/>
        </p:nvSpPr>
        <p:spPr>
          <a:xfrm>
            <a:off x="3597380" y="895881"/>
            <a:ext cx="1934861" cy="461665"/>
          </a:xfrm>
          <a:prstGeom prst="rect">
            <a:avLst/>
          </a:prstGeom>
          <a:noFill/>
        </p:spPr>
        <p:txBody>
          <a:bodyPr wrap="square">
            <a:spAutoFit/>
          </a:bodyPr>
          <a:lstStyle/>
          <a:p>
            <a:r>
              <a:rPr lang="en-IN" sz="2400" b="1" u="sng" spc="-10" dirty="0">
                <a:solidFill>
                  <a:schemeClr val="tx1"/>
                </a:solidFill>
                <a:latin typeface="Times New Roman"/>
                <a:ea typeface="+mj-ea"/>
                <a:cs typeface="Times New Roman"/>
              </a:rPr>
              <a:t>References</a:t>
            </a:r>
            <a:endParaRPr lang="en-US" sz="2400" b="1" u="sng" spc="-10" dirty="0">
              <a:solidFill>
                <a:schemeClr val="tx1"/>
              </a:solidFill>
              <a:latin typeface="Times New Roman"/>
              <a:ea typeface="+mj-ea"/>
              <a:cs typeface="Times New Roman"/>
            </a:endParaRPr>
          </a:p>
        </p:txBody>
      </p:sp>
      <p:sp>
        <p:nvSpPr>
          <p:cNvPr id="5" name="TextBox 4">
            <a:extLst>
              <a:ext uri="{FF2B5EF4-FFF2-40B4-BE49-F238E27FC236}">
                <a16:creationId xmlns:a16="http://schemas.microsoft.com/office/drawing/2014/main" id="{3587A5DB-31F4-D13E-63CB-A9A2A1C580B0}"/>
              </a:ext>
            </a:extLst>
          </p:cNvPr>
          <p:cNvSpPr txBox="1"/>
          <p:nvPr/>
        </p:nvSpPr>
        <p:spPr>
          <a:xfrm>
            <a:off x="456665" y="1356722"/>
            <a:ext cx="8403195" cy="4524315"/>
          </a:xfrm>
          <a:prstGeom prst="rect">
            <a:avLst/>
          </a:prstGeom>
          <a:noFill/>
        </p:spPr>
        <p:txBody>
          <a:bodyPr wrap="square" lIns="91440" tIns="45720" rIns="91440" bIns="45720" anchor="t">
            <a:spAutoFit/>
          </a:bodyPr>
          <a:lstStyle/>
          <a:p>
            <a:endParaRPr lang="en-US" b="1" dirty="0"/>
          </a:p>
          <a:p>
            <a:endParaRPr lang="en-US" b="1" dirty="0"/>
          </a:p>
          <a:p>
            <a:pPr marL="342900" indent="-342900">
              <a:buFont typeface="+mj-lt"/>
              <a:buAutoNum type="arabicPeriod"/>
            </a:pPr>
            <a:r>
              <a:rPr lang="en-US" dirty="0"/>
              <a:t>S. Chatterjee, R. Bhattacharjee, “AI in Healthcare: Applications, Benefits, and Challenges,” </a:t>
            </a:r>
            <a:r>
              <a:rPr lang="en-US" i="1" dirty="0"/>
              <a:t>Journal of Medical Systems</a:t>
            </a:r>
            <a:r>
              <a:rPr lang="en-US" dirty="0"/>
              <a:t>, Springer, 2020.</a:t>
            </a:r>
          </a:p>
          <a:p>
            <a:pPr marL="342900" indent="-342900">
              <a:buFont typeface="+mj-lt"/>
              <a:buAutoNum type="arabicPeriod"/>
            </a:pPr>
            <a:endParaRPr lang="en-US" dirty="0"/>
          </a:p>
          <a:p>
            <a:pPr marL="342900" indent="-342900">
              <a:buFont typeface="+mj-lt"/>
              <a:buAutoNum type="arabicPeriod"/>
            </a:pPr>
            <a:r>
              <a:rPr lang="en-US" dirty="0"/>
              <a:t>Esteva et al., “A guide to deep learning in healthcare,” </a:t>
            </a:r>
            <a:r>
              <a:rPr lang="en-US" i="1" dirty="0"/>
              <a:t>Nature Medicine</a:t>
            </a:r>
            <a:r>
              <a:rPr lang="en-US" dirty="0"/>
              <a:t>, 2019.</a:t>
            </a:r>
          </a:p>
          <a:p>
            <a:pPr marL="342900" indent="-342900">
              <a:buFont typeface="+mj-lt"/>
              <a:buAutoNum type="arabicPeriod"/>
            </a:pPr>
            <a:endParaRPr lang="en-US" dirty="0"/>
          </a:p>
          <a:p>
            <a:pPr marL="342900" indent="-342900">
              <a:buFont typeface="+mj-lt"/>
              <a:buAutoNum type="arabicPeriod"/>
            </a:pPr>
            <a:r>
              <a:rPr lang="en-US" dirty="0"/>
              <a:t>Google Fit Official Documentation – </a:t>
            </a:r>
            <a:r>
              <a:rPr lang="en-US" dirty="0">
                <a:hlinkClick r:id="rId2"/>
              </a:rPr>
              <a:t>https://developers.google.com/fit</a:t>
            </a:r>
            <a:endParaRPr lang="en-US" dirty="0"/>
          </a:p>
          <a:p>
            <a:pPr marL="342900" indent="-342900">
              <a:buFont typeface="+mj-lt"/>
              <a:buAutoNum type="arabicPeriod"/>
            </a:pPr>
            <a:endParaRPr lang="en-US" dirty="0"/>
          </a:p>
          <a:p>
            <a:pPr marL="342900" indent="-342900">
              <a:buFont typeface="+mj-lt"/>
              <a:buAutoNum type="arabicPeriod"/>
            </a:pPr>
            <a:r>
              <a:rPr lang="en-US" dirty="0" err="1"/>
              <a:t>Wysa</a:t>
            </a:r>
            <a:r>
              <a:rPr lang="en-US" dirty="0"/>
              <a:t> – AI Chatbot for Mental Health – </a:t>
            </a:r>
            <a:r>
              <a:rPr lang="en-US" dirty="0">
                <a:hlinkClick r:id="rId3"/>
              </a:rPr>
              <a:t>https://www.wysa.io/</a:t>
            </a:r>
            <a:endParaRPr lang="en-US" dirty="0"/>
          </a:p>
          <a:p>
            <a:pPr marL="342900" indent="-342900">
              <a:buFont typeface="+mj-lt"/>
              <a:buAutoNum type="arabicPeriod"/>
            </a:pPr>
            <a:endParaRPr lang="en-US" dirty="0"/>
          </a:p>
          <a:p>
            <a:pPr marL="342900" indent="-342900">
              <a:buFont typeface="+mj-lt"/>
              <a:buAutoNum type="arabicPeriod"/>
            </a:pPr>
            <a:r>
              <a:rPr lang="en-US" dirty="0"/>
              <a:t>MyFitnessPal – Diet and Fitness Tracking – </a:t>
            </a:r>
            <a:r>
              <a:rPr lang="en-US" dirty="0">
                <a:hlinkClick r:id="rId4"/>
              </a:rPr>
              <a:t>https://www.myfitnesspal.com/</a:t>
            </a:r>
            <a:endParaRPr lang="en-US" dirty="0"/>
          </a:p>
          <a:p>
            <a:pPr marL="342900" indent="-342900">
              <a:buFont typeface="+mj-lt"/>
              <a:buAutoNum type="arabicPeriod"/>
            </a:pPr>
            <a:endParaRPr lang="en-US" dirty="0"/>
          </a:p>
          <a:p>
            <a:pPr marL="342900" indent="-342900">
              <a:buFont typeface="+mj-lt"/>
              <a:buAutoNum type="arabicPeriod"/>
            </a:pPr>
            <a:r>
              <a:rPr lang="en-US" dirty="0"/>
              <a:t>World Health Organization (WHO) – Digital Health Guidelines, 2021 – </a:t>
            </a:r>
            <a:r>
              <a:rPr lang="en-US" dirty="0">
                <a:hlinkClick r:id="rId5"/>
              </a:rPr>
              <a:t>https://www.who.int</a:t>
            </a:r>
            <a:endParaRPr lang="en-US" dirty="0"/>
          </a:p>
          <a:p>
            <a:pPr marL="342900" indent="-342900" algn="l">
              <a:buAutoNum type="arabicPeriod"/>
            </a:pPr>
            <a:endParaRPr lang="en-IN" dirty="0"/>
          </a:p>
        </p:txBody>
      </p:sp>
      <p:sp>
        <p:nvSpPr>
          <p:cNvPr id="7" name="TextBox 6">
            <a:extLst>
              <a:ext uri="{FF2B5EF4-FFF2-40B4-BE49-F238E27FC236}">
                <a16:creationId xmlns:a16="http://schemas.microsoft.com/office/drawing/2014/main" id="{BD7D13F2-74B5-C713-F998-94718FC330E9}"/>
              </a:ext>
            </a:extLst>
          </p:cNvPr>
          <p:cNvSpPr txBox="1"/>
          <p:nvPr/>
        </p:nvSpPr>
        <p:spPr>
          <a:xfrm>
            <a:off x="289139" y="6329740"/>
            <a:ext cx="2069146" cy="230832"/>
          </a:xfrm>
          <a:prstGeom prst="rect">
            <a:avLst/>
          </a:prstGeom>
          <a:noFill/>
        </p:spPr>
        <p:txBody>
          <a:bodyPr wrap="square">
            <a:spAutoFit/>
          </a:bodyPr>
          <a:lstStyle/>
          <a:p>
            <a:r>
              <a:rPr lang="en-US" sz="900" dirty="0">
                <a:solidFill>
                  <a:schemeClr val="tx1"/>
                </a:solidFill>
                <a:latin typeface="Arial"/>
                <a:cs typeface="Arial"/>
              </a:rPr>
              <a:t>BE- Major  Project - SH25</a:t>
            </a:r>
          </a:p>
        </p:txBody>
      </p:sp>
    </p:spTree>
    <p:extLst>
      <p:ext uri="{BB962C8B-B14F-4D97-AF65-F5344CB8AC3E}">
        <p14:creationId xmlns:p14="http://schemas.microsoft.com/office/powerpoint/2010/main" val="13677226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217</TotalTime>
  <Words>1311</Words>
  <Application>Microsoft Office PowerPoint</Application>
  <PresentationFormat>On-screen Show (4:3)</PresentationFormat>
  <Paragraphs>154</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Times New Roman</vt:lpstr>
      <vt:lpstr>Trebuchet MS</vt:lpstr>
      <vt:lpstr>Wingdings</vt:lpstr>
      <vt:lpstr>Office Theme</vt:lpstr>
      <vt:lpstr>MAJOR  PROJECT </vt:lpstr>
      <vt:lpstr>Introduction:</vt:lpstr>
      <vt:lpstr>Literature Survey:</vt:lpstr>
      <vt:lpstr>PowerPoint Presentation</vt:lpstr>
      <vt:lpstr>PowerPoint Presentation</vt:lpstr>
      <vt:lpstr>PowerPoint Presentation</vt:lpstr>
      <vt:lpstr>Problem Statement: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BE_IOE Lab-Mini project PPT Format.docx</dc:title>
  <dc:creator>chinmay shinde</dc:creator>
  <cp:lastModifiedBy>CHANDAN MALVIYA</cp:lastModifiedBy>
  <cp:revision>509</cp:revision>
  <dcterms:created xsi:type="dcterms:W3CDTF">2025-08-05T19:27:58Z</dcterms:created>
  <dcterms:modified xsi:type="dcterms:W3CDTF">2025-08-11T05:19:28Z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2025-08-05T00:00:00Z</vt:filetime>
  </property>
  <property fmtid="{D5CDD505-2E9C-101B-9397-08002B2CF9AE}" pid="3" name="Producer">
    <vt:lpwstr>Skia/PDF m140 Google Docs Renderer</vt:lpwstr>
  </property>
  <property fmtid="{D5CDD505-2E9C-101B-9397-08002B2CF9AE}" pid="4" name="LastSaved">
    <vt:filetime>2025-08-05T00:00:00Z</vt:filetime>
  </property>
</Properties>
</file>